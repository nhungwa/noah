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09728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0972800" cy="8229600"/>
          </a:xfrm>
          <a:prstGeom prst="rect">
            <a:avLst/>
          </a:prstGeom>
        </p:spPr>
      </p:pic>
      <p:sp>
        <p:nvSpPr>
          <p:cNvPr id="3" name="TextBox 2"/>
          <p:cNvSpPr txBox="1"/>
          <p:nvPr/>
        </p:nvSpPr>
        <p:spPr>
          <a:xfrm>
            <a:off x="914400" y="2148840"/>
            <a:ext cx="9144000" cy="2011680"/>
          </a:xfrm>
          <a:prstGeom prst="rect">
            <a:avLst/>
          </a:prstGeom>
          <a:noFill/>
        </p:spPr>
        <p:txBody>
          <a:bodyPr wrap="square" anchor="t" lIns="0" rIns="0" tIns="0" bIns="0">
            <a:spAutoFit/>
          </a:bodyPr>
          <a:lstStyle/>
          <a:p>
            <a:pPr algn="ctr">
              <a:lnSpc>
                <a:spcPct val="100000"/>
              </a:lnSpc>
              <a:spcBef>
                <a:spcPts val="0"/>
              </a:spcBef>
              <a:spcAft>
                <a:spcPts val="300"/>
              </a:spcAft>
            </a:pPr>
            <a:r>
              <a:rPr sz="4400" b="1">
                <a:solidFill>
                  <a:srgbClr val="FFFFFF"/>
                </a:solidFill>
                <a:latin typeface="Arial Black"/>
              </a:rPr>
              <a:t>The History of CARE Nigeria</a:t>
            </a:r>
          </a:p>
        </p:txBody>
      </p:sp>
      <p:sp>
        <p:nvSpPr>
          <p:cNvPr id="4" name="TextBox 3"/>
          <p:cNvSpPr txBox="1"/>
          <p:nvPr/>
        </p:nvSpPr>
        <p:spPr>
          <a:xfrm>
            <a:off x="1371600" y="4343400"/>
            <a:ext cx="8229600" cy="1005840"/>
          </a:xfrm>
          <a:prstGeom prst="rect">
            <a:avLst/>
          </a:prstGeom>
          <a:noFill/>
        </p:spPr>
        <p:txBody>
          <a:bodyPr wrap="square" anchor="t" lIns="0" rIns="0" tIns="0" bIns="0">
            <a:spAutoFit/>
          </a:bodyPr>
          <a:lstStyle/>
          <a:p>
            <a:pPr algn="ctr">
              <a:lnSpc>
                <a:spcPct val="105000"/>
              </a:lnSpc>
              <a:spcBef>
                <a:spcPts val="0"/>
              </a:spcBef>
              <a:spcAft>
                <a:spcPts val="200"/>
              </a:spcAft>
            </a:pPr>
            <a:r>
              <a:rPr sz="1800" b="0">
                <a:solidFill>
                  <a:srgbClr val="FFFFFF"/>
                </a:solidFill>
                <a:latin typeface="Arial"/>
              </a:rPr>
              <a:t>From a global movement born in 1945 to a country office</a:t>
            </a:r>
          </a:p>
          <a:p>
            <a:pPr algn="ctr">
              <a:lnSpc>
                <a:spcPct val="105000"/>
              </a:lnSpc>
              <a:spcBef>
                <a:spcPts val="0"/>
              </a:spcBef>
              <a:spcAft>
                <a:spcPts val="200"/>
              </a:spcAft>
            </a:pPr>
            <a:r>
              <a:rPr sz="1800" b="0">
                <a:solidFill>
                  <a:srgbClr val="FFFFFF"/>
                </a:solidFill>
                <a:latin typeface="Arial"/>
              </a:rPr>
              <a:t>serving millions across Nigeria</a:t>
            </a:r>
          </a:p>
        </p:txBody>
      </p:sp>
      <p:sp>
        <p:nvSpPr>
          <p:cNvPr id="5" name="TextBox 4"/>
          <p:cNvSpPr txBox="1"/>
          <p:nvPr/>
        </p:nvSpPr>
        <p:spPr>
          <a:xfrm>
            <a:off x="1371600" y="5623560"/>
            <a:ext cx="822960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Extracted from carenigeria.org  |  October 2026</a:t>
            </a:r>
          </a:p>
        </p:txBody>
      </p:sp>
      <p:sp>
        <p:nvSpPr>
          <p:cNvPr id="6" name="TextBox 5"/>
          <p:cNvSpPr txBox="1"/>
          <p:nvPr/>
        </p:nvSpPr>
        <p:spPr>
          <a:xfrm>
            <a:off x="9464040" y="7452360"/>
            <a:ext cx="1280160" cy="548640"/>
          </a:xfrm>
          <a:prstGeom prst="rect">
            <a:avLst/>
          </a:prstGeom>
          <a:noFill/>
        </p:spPr>
        <p:txBody>
          <a:bodyPr wrap="square" anchor="t" lIns="0" rIns="0" tIns="0" bIns="0">
            <a:spAutoFit/>
          </a:bodyPr>
          <a:lstStyle/>
          <a:p>
            <a:pPr algn="ctr">
              <a:lnSpc>
                <a:spcPct val="105000"/>
              </a:lnSpc>
              <a:spcBef>
                <a:spcPts val="0"/>
              </a:spcBef>
              <a:spcAft>
                <a:spcPts val="300"/>
              </a:spcAft>
            </a:pPr>
            <a:r>
              <a:rPr sz="2200" b="1">
                <a:solidFill>
                  <a:srgbClr val="FFFFFF"/>
                </a:solidFill>
                <a:latin typeface="Arial"/>
              </a:rPr>
              <a:t>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What This Presentation Covers</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457200"/>
          </a:xfrm>
          <a:prstGeom prst="rect">
            <a:avLst/>
          </a:prstGeom>
          <a:noFill/>
        </p:spPr>
        <p:txBody>
          <a:bodyPr wrap="square" anchor="t" lIns="0" rIns="0" tIns="0" bIns="0">
            <a:spAutoFit/>
          </a:bodyPr>
          <a:lstStyle/>
          <a:p>
            <a:pPr algn="l">
              <a:lnSpc>
                <a:spcPct val="105000"/>
              </a:lnSpc>
              <a:spcBef>
                <a:spcPts val="0"/>
              </a:spcBef>
              <a:spcAft>
                <a:spcPts val="300"/>
              </a:spcAft>
            </a:pPr>
            <a:r>
              <a:rPr sz="1400" b="0">
                <a:solidFill>
                  <a:srgbClr val="1A1A1A"/>
                </a:solidFill>
                <a:latin typeface="Arial"/>
              </a:rPr>
              <a:t>A journey through CARE's story — globally and in Nigeria</a:t>
            </a:r>
          </a:p>
        </p:txBody>
      </p:sp>
      <p:sp>
        <p:nvSpPr>
          <p:cNvPr id="8" name="Rectangle 7"/>
          <p:cNvSpPr/>
          <p:nvPr/>
        </p:nvSpPr>
        <p:spPr>
          <a:xfrm>
            <a:off x="411480" y="1691640"/>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691640"/>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20824"/>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01</a:t>
            </a:r>
          </a:p>
        </p:txBody>
      </p:sp>
      <p:sp>
        <p:nvSpPr>
          <p:cNvPr id="11" name="TextBox 10"/>
          <p:cNvSpPr txBox="1"/>
          <p:nvPr/>
        </p:nvSpPr>
        <p:spPr>
          <a:xfrm>
            <a:off x="1124712" y="1856232"/>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Who We Are &amp; Our Values</a:t>
            </a:r>
          </a:p>
          <a:p>
            <a:pPr algn="l">
              <a:lnSpc>
                <a:spcPct val="105000"/>
              </a:lnSpc>
              <a:spcBef>
                <a:spcPts val="0"/>
              </a:spcBef>
              <a:spcAft>
                <a:spcPts val="200"/>
              </a:spcAft>
            </a:pPr>
            <a:r>
              <a:rPr sz="1000" b="0">
                <a:solidFill>
                  <a:srgbClr val="1A1A1A"/>
                </a:solidFill>
                <a:latin typeface="Arial"/>
              </a:rPr>
              <a:t>Mission, vision, focus and guiding principles</a:t>
            </a:r>
          </a:p>
        </p:txBody>
      </p:sp>
      <p:sp>
        <p:nvSpPr>
          <p:cNvPr id="12" name="Rectangle 11"/>
          <p:cNvSpPr/>
          <p:nvPr/>
        </p:nvSpPr>
        <p:spPr>
          <a:xfrm>
            <a:off x="5669280" y="1691640"/>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0" y="1691640"/>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15000" y="2020824"/>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02</a:t>
            </a:r>
          </a:p>
        </p:txBody>
      </p:sp>
      <p:sp>
        <p:nvSpPr>
          <p:cNvPr id="15" name="TextBox 14"/>
          <p:cNvSpPr txBox="1"/>
          <p:nvPr/>
        </p:nvSpPr>
        <p:spPr>
          <a:xfrm>
            <a:off x="6382512" y="1856232"/>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Global Origins</a:t>
            </a:r>
          </a:p>
          <a:p>
            <a:pPr algn="l">
              <a:lnSpc>
                <a:spcPct val="105000"/>
              </a:lnSpc>
              <a:spcBef>
                <a:spcPts val="0"/>
              </a:spcBef>
              <a:spcAft>
                <a:spcPts val="200"/>
              </a:spcAft>
            </a:pPr>
            <a:r>
              <a:rPr sz="1000" b="0">
                <a:solidFill>
                  <a:srgbClr val="1A1A1A"/>
                </a:solidFill>
                <a:latin typeface="Arial"/>
              </a:rPr>
              <a:t>Born in 1945 from the CARE Package®</a:t>
            </a:r>
          </a:p>
        </p:txBody>
      </p:sp>
      <p:sp>
        <p:nvSpPr>
          <p:cNvPr id="16" name="Rectangle 15"/>
          <p:cNvSpPr/>
          <p:nvPr/>
        </p:nvSpPr>
        <p:spPr>
          <a:xfrm>
            <a:off x="411480" y="3136392"/>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136392"/>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65576"/>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03</a:t>
            </a:r>
          </a:p>
        </p:txBody>
      </p:sp>
      <p:sp>
        <p:nvSpPr>
          <p:cNvPr id="19" name="TextBox 18"/>
          <p:cNvSpPr txBox="1"/>
          <p:nvPr/>
        </p:nvSpPr>
        <p:spPr>
          <a:xfrm>
            <a:off x="1124712" y="3300984"/>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History of CARE in Nigeria</a:t>
            </a:r>
          </a:p>
          <a:p>
            <a:pPr algn="l">
              <a:lnSpc>
                <a:spcPct val="105000"/>
              </a:lnSpc>
              <a:spcBef>
                <a:spcPts val="0"/>
              </a:spcBef>
              <a:spcAft>
                <a:spcPts val="200"/>
              </a:spcAft>
            </a:pPr>
            <a:r>
              <a:rPr sz="1000" b="0">
                <a:solidFill>
                  <a:srgbClr val="1A1A1A"/>
                </a:solidFill>
                <a:latin typeface="Arial"/>
              </a:rPr>
              <a:t>From cross-border work to a country office in 2017</a:t>
            </a:r>
          </a:p>
        </p:txBody>
      </p:sp>
      <p:sp>
        <p:nvSpPr>
          <p:cNvPr id="20" name="Rectangle 19"/>
          <p:cNvSpPr/>
          <p:nvPr/>
        </p:nvSpPr>
        <p:spPr>
          <a:xfrm>
            <a:off x="5669280" y="3136392"/>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0" y="3136392"/>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5000" y="3465576"/>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04</a:t>
            </a:r>
          </a:p>
        </p:txBody>
      </p:sp>
      <p:sp>
        <p:nvSpPr>
          <p:cNvPr id="23" name="TextBox 22"/>
          <p:cNvSpPr txBox="1"/>
          <p:nvPr/>
        </p:nvSpPr>
        <p:spPr>
          <a:xfrm>
            <a:off x="6382512" y="3300984"/>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Growth &amp; Expansion</a:t>
            </a:r>
          </a:p>
          <a:p>
            <a:pPr algn="l">
              <a:lnSpc>
                <a:spcPct val="105000"/>
              </a:lnSpc>
              <a:spcBef>
                <a:spcPts val="0"/>
              </a:spcBef>
              <a:spcAft>
                <a:spcPts val="200"/>
              </a:spcAft>
            </a:pPr>
            <a:r>
              <a:rPr sz="1000" b="0">
                <a:solidFill>
                  <a:srgbClr val="1A1A1A"/>
                </a:solidFill>
                <a:latin typeface="Arial"/>
              </a:rPr>
              <a:t>From 2 states to 14 states across Nigeria</a:t>
            </a:r>
          </a:p>
        </p:txBody>
      </p:sp>
      <p:sp>
        <p:nvSpPr>
          <p:cNvPr id="24" name="Rectangle 23"/>
          <p:cNvSpPr/>
          <p:nvPr/>
        </p:nvSpPr>
        <p:spPr>
          <a:xfrm>
            <a:off x="411480" y="4581144"/>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4581144"/>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910328"/>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05</a:t>
            </a:r>
          </a:p>
        </p:txBody>
      </p:sp>
      <p:sp>
        <p:nvSpPr>
          <p:cNvPr id="27" name="TextBox 26"/>
          <p:cNvSpPr txBox="1"/>
          <p:nvPr/>
        </p:nvSpPr>
        <p:spPr>
          <a:xfrm>
            <a:off x="1124712" y="4745736"/>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Where CARE Works in Nigeria</a:t>
            </a:r>
          </a:p>
          <a:p>
            <a:pPr algn="l">
              <a:lnSpc>
                <a:spcPct val="105000"/>
              </a:lnSpc>
              <a:spcBef>
                <a:spcPts val="0"/>
              </a:spcBef>
              <a:spcAft>
                <a:spcPts val="200"/>
              </a:spcAft>
            </a:pPr>
            <a:r>
              <a:rPr sz="1000" b="0">
                <a:solidFill>
                  <a:srgbClr val="1A1A1A"/>
                </a:solidFill>
                <a:latin typeface="Arial"/>
              </a:rPr>
              <a:t>The national presence map</a:t>
            </a:r>
          </a:p>
        </p:txBody>
      </p:sp>
      <p:sp>
        <p:nvSpPr>
          <p:cNvPr id="28" name="Rectangle 27"/>
          <p:cNvSpPr/>
          <p:nvPr/>
        </p:nvSpPr>
        <p:spPr>
          <a:xfrm>
            <a:off x="5669280" y="4581144"/>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0" y="4581144"/>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15000" y="4910328"/>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06</a:t>
            </a:r>
          </a:p>
        </p:txBody>
      </p:sp>
      <p:sp>
        <p:nvSpPr>
          <p:cNvPr id="31" name="TextBox 30"/>
          <p:cNvSpPr txBox="1"/>
          <p:nvPr/>
        </p:nvSpPr>
        <p:spPr>
          <a:xfrm>
            <a:off x="6382512" y="4745736"/>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What We Do &amp; Our Impact</a:t>
            </a:r>
          </a:p>
          <a:p>
            <a:pPr algn="l">
              <a:lnSpc>
                <a:spcPct val="105000"/>
              </a:lnSpc>
              <a:spcBef>
                <a:spcPts val="0"/>
              </a:spcBef>
              <a:spcAft>
                <a:spcPts val="200"/>
              </a:spcAft>
            </a:pPr>
            <a:r>
              <a:rPr sz="1000" b="0">
                <a:solidFill>
                  <a:srgbClr val="1A1A1A"/>
                </a:solidFill>
                <a:latin typeface="Arial"/>
              </a:rPr>
              <a:t>Focus areas, results and numbers</a:t>
            </a:r>
          </a:p>
        </p:txBody>
      </p:sp>
      <p:sp>
        <p:nvSpPr>
          <p:cNvPr id="32" name="Rectangle 31"/>
          <p:cNvSpPr/>
          <p:nvPr/>
        </p:nvSpPr>
        <p:spPr>
          <a:xfrm>
            <a:off x="411480" y="6025896"/>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1480" y="6025896"/>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355080"/>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07</a:t>
            </a:r>
          </a:p>
        </p:txBody>
      </p:sp>
      <p:sp>
        <p:nvSpPr>
          <p:cNvPr id="35" name="TextBox 34"/>
          <p:cNvSpPr txBox="1"/>
          <p:nvPr/>
        </p:nvSpPr>
        <p:spPr>
          <a:xfrm>
            <a:off x="1124712" y="6190488"/>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The Global CARE Journey</a:t>
            </a:r>
          </a:p>
          <a:p>
            <a:pPr algn="l">
              <a:lnSpc>
                <a:spcPct val="105000"/>
              </a:lnSpc>
              <a:spcBef>
                <a:spcPts val="0"/>
              </a:spcBef>
              <a:spcAft>
                <a:spcPts val="200"/>
              </a:spcAft>
            </a:pPr>
            <a:r>
              <a:rPr sz="1000" b="0">
                <a:solidFill>
                  <a:srgbClr val="1A1A1A"/>
                </a:solidFill>
                <a:latin typeface="Arial"/>
              </a:rPr>
              <a:t>Eight decades of humanitarian action</a:t>
            </a:r>
          </a:p>
        </p:txBody>
      </p:sp>
      <p:sp>
        <p:nvSpPr>
          <p:cNvPr id="36" name="Rectangle 35"/>
          <p:cNvSpPr/>
          <p:nvPr/>
        </p:nvSpPr>
        <p:spPr>
          <a:xfrm>
            <a:off x="5669280" y="6025896"/>
            <a:ext cx="5029200" cy="1207008"/>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0" y="6025896"/>
            <a:ext cx="566928" cy="1207008"/>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15000" y="6355080"/>
            <a:ext cx="502920" cy="548640"/>
          </a:xfrm>
          <a:prstGeom prst="rect">
            <a:avLst/>
          </a:prstGeom>
          <a:noFill/>
        </p:spPr>
        <p:txBody>
          <a:bodyPr wrap="square" anchor="t" lIns="0" rIns="0" tIns="0" bIns="0">
            <a:spAutoFit/>
          </a:bodyPr>
          <a:lstStyle/>
          <a:p>
            <a:pPr algn="ctr">
              <a:lnSpc>
                <a:spcPct val="105000"/>
              </a:lnSpc>
              <a:spcBef>
                <a:spcPts val="0"/>
              </a:spcBef>
              <a:spcAft>
                <a:spcPts val="300"/>
              </a:spcAft>
            </a:pPr>
            <a:r>
              <a:rPr sz="1500" b="1">
                <a:solidFill>
                  <a:srgbClr val="FFFFFF"/>
                </a:solidFill>
                <a:latin typeface="Arial"/>
              </a:rPr>
              <a:t>08</a:t>
            </a:r>
          </a:p>
        </p:txBody>
      </p:sp>
      <p:sp>
        <p:nvSpPr>
          <p:cNvPr id="39" name="TextBox 38"/>
          <p:cNvSpPr txBox="1"/>
          <p:nvPr/>
        </p:nvSpPr>
        <p:spPr>
          <a:xfrm>
            <a:off x="6382512" y="6190488"/>
            <a:ext cx="4160520" cy="914400"/>
          </a:xfrm>
          <a:prstGeom prst="rect">
            <a:avLst/>
          </a:prstGeom>
          <a:noFill/>
        </p:spPr>
        <p:txBody>
          <a:bodyPr wrap="square" anchor="t" lIns="0" rIns="0" tIns="0" bIns="0">
            <a:spAutoFit/>
          </a:bodyPr>
          <a:lstStyle/>
          <a:p>
            <a:pPr algn="l">
              <a:lnSpc>
                <a:spcPct val="105000"/>
              </a:lnSpc>
              <a:spcBef>
                <a:spcPts val="0"/>
              </a:spcBef>
              <a:spcAft>
                <a:spcPts val="200"/>
              </a:spcAft>
            </a:pPr>
            <a:r>
              <a:rPr sz="1350" b="1">
                <a:solidFill>
                  <a:srgbClr val="221D5E"/>
                </a:solidFill>
                <a:latin typeface="Arial"/>
              </a:rPr>
              <a:t>Governance &amp; In This Section</a:t>
            </a:r>
          </a:p>
          <a:p>
            <a:pPr algn="l">
              <a:lnSpc>
                <a:spcPct val="105000"/>
              </a:lnSpc>
              <a:spcBef>
                <a:spcPts val="0"/>
              </a:spcBef>
              <a:spcAft>
                <a:spcPts val="200"/>
              </a:spcAft>
            </a:pPr>
            <a:r>
              <a:rPr sz="1000" b="0">
                <a:solidFill>
                  <a:srgbClr val="1A1A1A"/>
                </a:solidFill>
                <a:latin typeface="Arial"/>
              </a:rPr>
              <a:t>Advisory Committee, Community of CARE and more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Who We Are</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914400"/>
          </a:xfrm>
          <a:prstGeom prst="rect">
            <a:avLst/>
          </a:prstGeom>
          <a:noFill/>
        </p:spPr>
        <p:txBody>
          <a:bodyPr wrap="square" anchor="t" lIns="0" rIns="0" tIns="0" bIns="0">
            <a:spAutoFit/>
          </a:bodyPr>
          <a:lstStyle/>
          <a:p>
            <a:pPr algn="l">
              <a:lnSpc>
                <a:spcPct val="112000"/>
              </a:lnSpc>
              <a:spcBef>
                <a:spcPts val="0"/>
              </a:spcBef>
              <a:spcAft>
                <a:spcPts val="300"/>
              </a:spcAft>
            </a:pPr>
            <a:r>
              <a:rPr sz="1300" b="0">
                <a:solidFill>
                  <a:srgbClr val="1A1A1A"/>
                </a:solidFill>
                <a:latin typeface="Arial"/>
              </a:rPr>
              <a:t>CARE is a global leader within a worldwide movement dedicated to ending poverty — known everywhere for its unshakeable commitment to the dignity of people. CARE works around the globe to save lives, defeat poverty, and achieve social justice.</a:t>
            </a:r>
          </a:p>
        </p:txBody>
      </p:sp>
      <p:sp>
        <p:nvSpPr>
          <p:cNvPr id="8" name="Rectangle 7"/>
          <p:cNvSpPr/>
          <p:nvPr/>
        </p:nvSpPr>
        <p:spPr>
          <a:xfrm>
            <a:off x="411480" y="2240280"/>
            <a:ext cx="4846320" cy="160020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95728"/>
            <a:ext cx="4343400" cy="1371600"/>
          </a:xfrm>
          <a:prstGeom prst="rect">
            <a:avLst/>
          </a:prstGeom>
          <a:noFill/>
        </p:spPr>
        <p:txBody>
          <a:bodyPr wrap="square" anchor="t" lIns="0" rIns="0" tIns="0" bIns="0">
            <a:spAutoFit/>
          </a:bodyPr>
          <a:lstStyle/>
          <a:p>
            <a:pPr algn="l">
              <a:lnSpc>
                <a:spcPct val="110000"/>
              </a:lnSpc>
              <a:spcBef>
                <a:spcPts val="0"/>
              </a:spcBef>
              <a:spcAft>
                <a:spcPts val="200"/>
              </a:spcAft>
            </a:pPr>
            <a:r>
              <a:rPr sz="1200" b="1">
                <a:solidFill>
                  <a:srgbClr val="F4B122"/>
                </a:solidFill>
                <a:latin typeface="Arial"/>
              </a:rPr>
              <a:t>OUR MISSION</a:t>
            </a:r>
          </a:p>
          <a:p>
            <a:pPr algn="l">
              <a:lnSpc>
                <a:spcPct val="110000"/>
              </a:lnSpc>
              <a:spcBef>
                <a:spcPts val="300"/>
              </a:spcBef>
              <a:spcAft>
                <a:spcPts val="200"/>
              </a:spcAft>
            </a:pPr>
            <a:r>
              <a:rPr sz="1250" b="0">
                <a:solidFill>
                  <a:srgbClr val="FFFFFF"/>
                </a:solidFill>
                <a:latin typeface="Arial"/>
              </a:rPr>
              <a:t>CARE works around the globe to save lives, defeat poverty, and achieve social justice.</a:t>
            </a:r>
          </a:p>
        </p:txBody>
      </p:sp>
      <p:sp>
        <p:nvSpPr>
          <p:cNvPr id="10" name="Oval 9"/>
          <p:cNvSpPr/>
          <p:nvPr/>
        </p:nvSpPr>
        <p:spPr>
          <a:xfrm>
            <a:off x="5623560" y="2148840"/>
            <a:ext cx="2377440" cy="2377440"/>
          </a:xfrm>
          <a:prstGeom prst="ellipse">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06440" y="2697480"/>
            <a:ext cx="2011680" cy="1463040"/>
          </a:xfrm>
          <a:prstGeom prst="rect">
            <a:avLst/>
          </a:prstGeom>
          <a:noFill/>
        </p:spPr>
        <p:txBody>
          <a:bodyPr wrap="square" anchor="t" lIns="0" rIns="0" tIns="0" bIns="0">
            <a:spAutoFit/>
          </a:bodyPr>
          <a:lstStyle/>
          <a:p>
            <a:pPr algn="ctr">
              <a:lnSpc>
                <a:spcPct val="105000"/>
              </a:lnSpc>
              <a:spcBef>
                <a:spcPts val="0"/>
              </a:spcBef>
              <a:spcAft>
                <a:spcPts val="100"/>
              </a:spcAft>
            </a:pPr>
            <a:r>
              <a:rPr sz="1000" b="1">
                <a:solidFill>
                  <a:srgbClr val="F47400"/>
                </a:solidFill>
                <a:latin typeface="Arial"/>
              </a:rPr>
              <a:t>OUR VISION</a:t>
            </a:r>
          </a:p>
          <a:p>
            <a:pPr algn="ctr">
              <a:lnSpc>
                <a:spcPct val="105000"/>
              </a:lnSpc>
              <a:spcBef>
                <a:spcPts val="200"/>
              </a:spcBef>
              <a:spcAft>
                <a:spcPts val="100"/>
              </a:spcAft>
            </a:pPr>
            <a:r>
              <a:rPr sz="1000" b="0">
                <a:solidFill>
                  <a:srgbClr val="1A1A1A"/>
                </a:solidFill>
                <a:latin typeface="Arial"/>
              </a:rPr>
              <a:t>A world of hope, inclusion and social justice where poverty has been overcome.</a:t>
            </a:r>
          </a:p>
        </p:txBody>
      </p:sp>
      <p:sp>
        <p:nvSpPr>
          <p:cNvPr id="12" name="Rectangle 11"/>
          <p:cNvSpPr/>
          <p:nvPr/>
        </p:nvSpPr>
        <p:spPr>
          <a:xfrm>
            <a:off x="8275320" y="2240280"/>
            <a:ext cx="2286000" cy="214884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423160"/>
            <a:ext cx="1965960" cy="1828800"/>
          </a:xfrm>
          <a:prstGeom prst="rect">
            <a:avLst/>
          </a:prstGeom>
          <a:noFill/>
        </p:spPr>
        <p:txBody>
          <a:bodyPr wrap="square" anchor="t" lIns="0" rIns="0" tIns="0" bIns="0">
            <a:spAutoFit/>
          </a:bodyPr>
          <a:lstStyle/>
          <a:p>
            <a:pPr algn="l">
              <a:lnSpc>
                <a:spcPct val="108000"/>
              </a:lnSpc>
              <a:spcBef>
                <a:spcPts val="0"/>
              </a:spcBef>
              <a:spcAft>
                <a:spcPts val="200"/>
              </a:spcAft>
            </a:pPr>
            <a:r>
              <a:rPr sz="1100" b="1">
                <a:solidFill>
                  <a:srgbClr val="221D5E"/>
                </a:solidFill>
                <a:latin typeface="Arial"/>
              </a:rPr>
              <a:t>OUR FOCUS</a:t>
            </a:r>
          </a:p>
          <a:p>
            <a:pPr algn="l">
              <a:lnSpc>
                <a:spcPct val="108000"/>
              </a:lnSpc>
              <a:spcBef>
                <a:spcPts val="300"/>
              </a:spcBef>
              <a:spcAft>
                <a:spcPts val="200"/>
              </a:spcAft>
            </a:pPr>
            <a:r>
              <a:rPr sz="1000" b="0">
                <a:solidFill>
                  <a:srgbClr val="1A1A1A"/>
                </a:solidFill>
                <a:latin typeface="Arial"/>
              </a:rPr>
              <a:t>We put women and girls in the center because we cannot overcome poverty until all people have equal rights and opportunities.</a:t>
            </a:r>
          </a:p>
        </p:txBody>
      </p:sp>
      <p:sp>
        <p:nvSpPr>
          <p:cNvPr id="14" name="Rectangle 13"/>
          <p:cNvSpPr/>
          <p:nvPr/>
        </p:nvSpPr>
        <p:spPr>
          <a:xfrm>
            <a:off x="411480" y="4892040"/>
            <a:ext cx="10149840" cy="141732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102352"/>
            <a:ext cx="9601200" cy="1051560"/>
          </a:xfrm>
          <a:prstGeom prst="rect">
            <a:avLst/>
          </a:prstGeom>
          <a:noFill/>
        </p:spPr>
        <p:txBody>
          <a:bodyPr wrap="square" anchor="t" lIns="0" rIns="0" tIns="0" bIns="0">
            <a:spAutoFit/>
          </a:bodyPr>
          <a:lstStyle/>
          <a:p>
            <a:pPr algn="l">
              <a:lnSpc>
                <a:spcPct val="115000"/>
              </a:lnSpc>
              <a:spcBef>
                <a:spcPts val="0"/>
              </a:spcBef>
              <a:spcAft>
                <a:spcPts val="300"/>
              </a:spcAft>
            </a:pPr>
            <a:r>
              <a:rPr sz="1300" b="0">
                <a:solidFill>
                  <a:srgbClr val="1A1A1A"/>
                </a:solidFill>
                <a:latin typeface="Arial"/>
              </a:rPr>
              <a:t>CARE Nigeria is one of the many country offices of CARE. CARE is an acronym for Cooperative for Assistance and Relief Everywhere, and is a leading humanitarian organization fighting global poverty — founded in 1945 with the creation of the CARE Package®.</a:t>
            </a:r>
          </a:p>
        </p:txBody>
      </p:sp>
      <p:sp>
        <p:nvSpPr>
          <p:cNvPr id="16" name="TextBox 15"/>
          <p:cNvSpPr txBox="1"/>
          <p:nvPr/>
        </p:nvSpPr>
        <p:spPr>
          <a:xfrm>
            <a:off x="411480" y="6537960"/>
            <a:ext cx="8686800" cy="320040"/>
          </a:xfrm>
          <a:prstGeom prst="rect">
            <a:avLst/>
          </a:prstGeom>
          <a:noFill/>
        </p:spPr>
        <p:txBody>
          <a:bodyPr wrap="square" anchor="t" lIns="0" rIns="0" tIns="0" bIns="0">
            <a:spAutoFit/>
          </a:bodyPr>
          <a:lstStyle/>
          <a:p>
            <a:pPr algn="l">
              <a:lnSpc>
                <a:spcPct val="105000"/>
              </a:lnSpc>
              <a:spcBef>
                <a:spcPts val="0"/>
              </a:spcBef>
              <a:spcAft>
                <a:spcPts val="300"/>
              </a:spcAft>
            </a:pPr>
            <a:r>
              <a:rPr sz="700" b="0">
                <a:solidFill>
                  <a:srgbClr val="D9531E"/>
                </a:solidFill>
                <a:latin typeface="Arial"/>
              </a:rPr>
              <a:t>Source: carenigeria.org/mission-and-vision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Our Values</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457200"/>
          </a:xfrm>
          <a:prstGeom prst="rect">
            <a:avLst/>
          </a:prstGeom>
          <a:noFill/>
        </p:spPr>
        <p:txBody>
          <a:bodyPr wrap="square" anchor="t" lIns="0" rIns="0" tIns="0" bIns="0">
            <a:spAutoFit/>
          </a:bodyPr>
          <a:lstStyle/>
          <a:p>
            <a:pPr algn="l">
              <a:lnSpc>
                <a:spcPct val="105000"/>
              </a:lnSpc>
              <a:spcBef>
                <a:spcPts val="0"/>
              </a:spcBef>
              <a:spcAft>
                <a:spcPts val="300"/>
              </a:spcAft>
            </a:pPr>
            <a:r>
              <a:rPr sz="1400" b="0">
                <a:solidFill>
                  <a:srgbClr val="1A1A1A"/>
                </a:solidFill>
                <a:latin typeface="Arial"/>
              </a:rPr>
              <a:t>Five enduring principles that guide everything CARE does</a:t>
            </a:r>
          </a:p>
        </p:txBody>
      </p:sp>
      <p:sp>
        <p:nvSpPr>
          <p:cNvPr id="8" name="Rounded Rectangle 7"/>
          <p:cNvSpPr/>
          <p:nvPr/>
        </p:nvSpPr>
        <p:spPr>
          <a:xfrm>
            <a:off x="384048" y="1783080"/>
            <a:ext cx="1920240" cy="4206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7" y="2011680"/>
            <a:ext cx="1645920" cy="777240"/>
          </a:xfrm>
          <a:prstGeom prst="rect">
            <a:avLst/>
          </a:prstGeom>
          <a:noFill/>
        </p:spPr>
        <p:txBody>
          <a:bodyPr wrap="square" anchor="t" lIns="0" rIns="0" tIns="0" bIns="0">
            <a:spAutoFit/>
          </a:bodyPr>
          <a:lstStyle/>
          <a:p>
            <a:pPr algn="ctr">
              <a:lnSpc>
                <a:spcPct val="100000"/>
              </a:lnSpc>
              <a:spcBef>
                <a:spcPts val="0"/>
              </a:spcBef>
              <a:spcAft>
                <a:spcPts val="300"/>
              </a:spcAft>
            </a:pPr>
            <a:r>
              <a:rPr sz="1250" b="1">
                <a:solidFill>
                  <a:srgbClr val="221D5E"/>
                </a:solidFill>
                <a:latin typeface="Arial"/>
              </a:rPr>
              <a:t>Transformation</a:t>
            </a:r>
          </a:p>
        </p:txBody>
      </p:sp>
      <p:sp>
        <p:nvSpPr>
          <p:cNvPr id="10" name="TextBox 9"/>
          <p:cNvSpPr txBox="1"/>
          <p:nvPr/>
        </p:nvSpPr>
        <p:spPr>
          <a:xfrm>
            <a:off x="521207" y="2880360"/>
            <a:ext cx="1645920" cy="283464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Urgent action, innovation, and the necessity of transformation — within the world and our own organization.</a:t>
            </a:r>
          </a:p>
        </p:txBody>
      </p:sp>
      <p:sp>
        <p:nvSpPr>
          <p:cNvPr id="11" name="Rounded Rectangle 10"/>
          <p:cNvSpPr/>
          <p:nvPr/>
        </p:nvSpPr>
        <p:spPr>
          <a:xfrm>
            <a:off x="2468879" y="1783080"/>
            <a:ext cx="1920240" cy="4206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6039" y="2011680"/>
            <a:ext cx="1645920" cy="777240"/>
          </a:xfrm>
          <a:prstGeom prst="rect">
            <a:avLst/>
          </a:prstGeom>
          <a:noFill/>
        </p:spPr>
        <p:txBody>
          <a:bodyPr wrap="square" anchor="t" lIns="0" rIns="0" tIns="0" bIns="0">
            <a:spAutoFit/>
          </a:bodyPr>
          <a:lstStyle/>
          <a:p>
            <a:pPr algn="ctr">
              <a:lnSpc>
                <a:spcPct val="100000"/>
              </a:lnSpc>
              <a:spcBef>
                <a:spcPts val="0"/>
              </a:spcBef>
              <a:spcAft>
                <a:spcPts val="300"/>
              </a:spcAft>
            </a:pPr>
            <a:r>
              <a:rPr sz="1250" b="1">
                <a:solidFill>
                  <a:srgbClr val="221D5E"/>
                </a:solidFill>
                <a:latin typeface="Arial"/>
              </a:rPr>
              <a:t>Integrity</a:t>
            </a:r>
          </a:p>
        </p:txBody>
      </p:sp>
      <p:sp>
        <p:nvSpPr>
          <p:cNvPr id="13" name="TextBox 12"/>
          <p:cNvSpPr txBox="1"/>
          <p:nvPr/>
        </p:nvSpPr>
        <p:spPr>
          <a:xfrm>
            <a:off x="2606039" y="2880360"/>
            <a:ext cx="1645920" cy="283464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Accountable to the people and partners we humbly serve, transparently sharing our results, stories, and lessons.</a:t>
            </a:r>
          </a:p>
        </p:txBody>
      </p:sp>
      <p:sp>
        <p:nvSpPr>
          <p:cNvPr id="14" name="Rounded Rectangle 13"/>
          <p:cNvSpPr/>
          <p:nvPr/>
        </p:nvSpPr>
        <p:spPr>
          <a:xfrm>
            <a:off x="4553712" y="1783080"/>
            <a:ext cx="1920240" cy="4206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90872" y="2011680"/>
            <a:ext cx="1645920" cy="777240"/>
          </a:xfrm>
          <a:prstGeom prst="rect">
            <a:avLst/>
          </a:prstGeom>
          <a:noFill/>
        </p:spPr>
        <p:txBody>
          <a:bodyPr wrap="square" anchor="t" lIns="0" rIns="0" tIns="0" bIns="0">
            <a:spAutoFit/>
          </a:bodyPr>
          <a:lstStyle/>
          <a:p>
            <a:pPr algn="ctr">
              <a:lnSpc>
                <a:spcPct val="100000"/>
              </a:lnSpc>
              <a:spcBef>
                <a:spcPts val="0"/>
              </a:spcBef>
              <a:spcAft>
                <a:spcPts val="300"/>
              </a:spcAft>
            </a:pPr>
            <a:r>
              <a:rPr sz="1250" b="1">
                <a:solidFill>
                  <a:srgbClr val="221D5E"/>
                </a:solidFill>
                <a:latin typeface="Arial"/>
              </a:rPr>
              <a:t>Diversity</a:t>
            </a:r>
          </a:p>
        </p:txBody>
      </p:sp>
      <p:sp>
        <p:nvSpPr>
          <p:cNvPr id="16" name="TextBox 15"/>
          <p:cNvSpPr txBox="1"/>
          <p:nvPr/>
        </p:nvSpPr>
        <p:spPr>
          <a:xfrm>
            <a:off x="4690872" y="2880360"/>
            <a:ext cx="1645920" cy="283464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Embracing differences, including a variety of voices, and joining together to solve complex problems.</a:t>
            </a:r>
          </a:p>
        </p:txBody>
      </p:sp>
      <p:sp>
        <p:nvSpPr>
          <p:cNvPr id="17" name="Rounded Rectangle 16"/>
          <p:cNvSpPr/>
          <p:nvPr/>
        </p:nvSpPr>
        <p:spPr>
          <a:xfrm>
            <a:off x="6638544" y="1783080"/>
            <a:ext cx="1920240" cy="4206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75704" y="2011680"/>
            <a:ext cx="1645920" cy="777240"/>
          </a:xfrm>
          <a:prstGeom prst="rect">
            <a:avLst/>
          </a:prstGeom>
          <a:noFill/>
        </p:spPr>
        <p:txBody>
          <a:bodyPr wrap="square" anchor="t" lIns="0" rIns="0" tIns="0" bIns="0">
            <a:spAutoFit/>
          </a:bodyPr>
          <a:lstStyle/>
          <a:p>
            <a:pPr algn="ctr">
              <a:lnSpc>
                <a:spcPct val="100000"/>
              </a:lnSpc>
              <a:spcBef>
                <a:spcPts val="0"/>
              </a:spcBef>
              <a:spcAft>
                <a:spcPts val="300"/>
              </a:spcAft>
            </a:pPr>
            <a:r>
              <a:rPr sz="1250" b="1">
                <a:solidFill>
                  <a:srgbClr val="221D5E"/>
                </a:solidFill>
                <a:latin typeface="Arial"/>
              </a:rPr>
              <a:t>Excellence</a:t>
            </a:r>
          </a:p>
        </p:txBody>
      </p:sp>
      <p:sp>
        <p:nvSpPr>
          <p:cNvPr id="19" name="TextBox 18"/>
          <p:cNvSpPr txBox="1"/>
          <p:nvPr/>
        </p:nvSpPr>
        <p:spPr>
          <a:xfrm>
            <a:off x="6775704" y="2880360"/>
            <a:ext cx="1645920" cy="283464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Challenging ourselves to the highest level of learning and performance, tapping the best of the human spirit.</a:t>
            </a:r>
          </a:p>
        </p:txBody>
      </p:sp>
      <p:sp>
        <p:nvSpPr>
          <p:cNvPr id="20" name="Rounded Rectangle 19"/>
          <p:cNvSpPr/>
          <p:nvPr/>
        </p:nvSpPr>
        <p:spPr>
          <a:xfrm>
            <a:off x="8723376" y="1783080"/>
            <a:ext cx="1920240" cy="4206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0536" y="2011680"/>
            <a:ext cx="1645920" cy="777240"/>
          </a:xfrm>
          <a:prstGeom prst="rect">
            <a:avLst/>
          </a:prstGeom>
          <a:noFill/>
        </p:spPr>
        <p:txBody>
          <a:bodyPr wrap="square" anchor="t" lIns="0" rIns="0" tIns="0" bIns="0">
            <a:spAutoFit/>
          </a:bodyPr>
          <a:lstStyle/>
          <a:p>
            <a:pPr algn="ctr">
              <a:lnSpc>
                <a:spcPct val="100000"/>
              </a:lnSpc>
              <a:spcBef>
                <a:spcPts val="0"/>
              </a:spcBef>
              <a:spcAft>
                <a:spcPts val="300"/>
              </a:spcAft>
            </a:pPr>
            <a:r>
              <a:rPr sz="1250" b="1">
                <a:solidFill>
                  <a:srgbClr val="221D5E"/>
                </a:solidFill>
                <a:latin typeface="Arial"/>
              </a:rPr>
              <a:t>Equality</a:t>
            </a:r>
          </a:p>
        </p:txBody>
      </p:sp>
      <p:sp>
        <p:nvSpPr>
          <p:cNvPr id="22" name="TextBox 21"/>
          <p:cNvSpPr txBox="1"/>
          <p:nvPr/>
        </p:nvSpPr>
        <p:spPr>
          <a:xfrm>
            <a:off x="8860536" y="2880360"/>
            <a:ext cx="1645920" cy="283464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The equal value of every human being; respecting and honoring each individual — change happens through people.</a:t>
            </a:r>
          </a:p>
        </p:txBody>
      </p:sp>
      <p:sp>
        <p:nvSpPr>
          <p:cNvPr id="23" name="Rectangle 22"/>
          <p:cNvSpPr/>
          <p:nvPr/>
        </p:nvSpPr>
        <p:spPr>
          <a:xfrm>
            <a:off x="411480" y="6263640"/>
            <a:ext cx="10149840" cy="114300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6446520"/>
            <a:ext cx="9601200" cy="822960"/>
          </a:xfrm>
          <a:prstGeom prst="rect">
            <a:avLst/>
          </a:prstGeom>
          <a:noFill/>
        </p:spPr>
        <p:txBody>
          <a:bodyPr wrap="square" anchor="ctr" lIns="0" rIns="0" tIns="0" bIns="0">
            <a:spAutoFit/>
          </a:bodyPr>
          <a:lstStyle/>
          <a:p>
            <a:pPr algn="l">
              <a:lnSpc>
                <a:spcPct val="105000"/>
              </a:lnSpc>
              <a:spcBef>
                <a:spcPts val="0"/>
              </a:spcBef>
              <a:spcAft>
                <a:spcPts val="300"/>
              </a:spcAft>
            </a:pPr>
            <a:r>
              <a:rPr sz="1250" b="0">
                <a:solidFill>
                  <a:srgbClr val="FFFFFF"/>
                </a:solidFill>
                <a:latin typeface="Arial"/>
              </a:rPr>
              <a:t>We believe in the equal value of every human being — and we know that change happens through people.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Global Origins: Born in 1945</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1234440"/>
          </a:xfrm>
          <a:prstGeom prst="rect">
            <a:avLst/>
          </a:prstGeom>
          <a:noFill/>
        </p:spPr>
        <p:txBody>
          <a:bodyPr wrap="square" anchor="t" lIns="0" rIns="0" tIns="0" bIns="0">
            <a:spAutoFit/>
          </a:bodyPr>
          <a:lstStyle/>
          <a:p>
            <a:pPr algn="l">
              <a:lnSpc>
                <a:spcPct val="112000"/>
              </a:lnSpc>
              <a:spcBef>
                <a:spcPts val="0"/>
              </a:spcBef>
              <a:spcAft>
                <a:spcPts val="300"/>
              </a:spcAft>
            </a:pPr>
            <a:r>
              <a:rPr sz="1300" b="0">
                <a:solidFill>
                  <a:srgbClr val="1A1A1A"/>
                </a:solidFill>
                <a:latin typeface="Arial"/>
              </a:rPr>
              <a:t>In 1945, CARE — then the Cooperative for American Remittances to Europe — took possession of 2.8 million “10-in-1” military food rations known as the CARE Package®. That same year, CARE delivered its first CARE Packages to Le Havre, France, and by the end of the year had operations in 10 European nations.</a:t>
            </a:r>
          </a:p>
        </p:txBody>
      </p:sp>
      <p:sp>
        <p:nvSpPr>
          <p:cNvPr id="8" name="Rectangle 7"/>
          <p:cNvSpPr/>
          <p:nvPr/>
        </p:nvSpPr>
        <p:spPr>
          <a:xfrm>
            <a:off x="411480" y="2514600"/>
            <a:ext cx="10149840" cy="105156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9601200" cy="777240"/>
          </a:xfrm>
          <a:prstGeom prst="rect">
            <a:avLst/>
          </a:prstGeom>
          <a:noFill/>
        </p:spPr>
        <p:txBody>
          <a:bodyPr wrap="square" anchor="ctr" lIns="0" rIns="0" tIns="0" bIns="0">
            <a:spAutoFit/>
          </a:bodyPr>
          <a:lstStyle/>
          <a:p>
            <a:pPr algn="l">
              <a:lnSpc>
                <a:spcPct val="112000"/>
              </a:lnSpc>
              <a:spcBef>
                <a:spcPts val="0"/>
              </a:spcBef>
              <a:spcAft>
                <a:spcPts val="300"/>
              </a:spcAft>
            </a:pPr>
            <a:r>
              <a:rPr sz="1250" b="0">
                <a:solidFill>
                  <a:srgbClr val="FFFFFF"/>
                </a:solidFill>
                <a:latin typeface="Arial"/>
              </a:rPr>
              <a:t>1945 — the year CARE and the famous CARE Package® were born, out of World War II relief efforts. The package soon expanded to soap, textiles, toys, seed programs and self-help agricultural projects.</a:t>
            </a:r>
          </a:p>
        </p:txBody>
      </p:sp>
      <p:sp>
        <p:nvSpPr>
          <p:cNvPr id="10" name="Oval 9"/>
          <p:cNvSpPr/>
          <p:nvPr/>
        </p:nvSpPr>
        <p:spPr>
          <a:xfrm>
            <a:off x="777240" y="3977639"/>
            <a:ext cx="2880360" cy="2880360"/>
          </a:xfrm>
          <a:prstGeom prst="ellipse">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0600"/>
            <a:ext cx="2331720" cy="1463040"/>
          </a:xfrm>
          <a:prstGeom prst="rect">
            <a:avLst/>
          </a:prstGeom>
          <a:noFill/>
        </p:spPr>
        <p:txBody>
          <a:bodyPr wrap="square" anchor="t" lIns="0" rIns="0" tIns="0" bIns="0">
            <a:spAutoFit/>
          </a:bodyPr>
          <a:lstStyle/>
          <a:p>
            <a:pPr algn="ctr">
              <a:lnSpc>
                <a:spcPct val="110000"/>
              </a:lnSpc>
              <a:spcBef>
                <a:spcPts val="0"/>
              </a:spcBef>
              <a:spcAft>
                <a:spcPts val="200"/>
              </a:spcAft>
            </a:pPr>
            <a:r>
              <a:rPr sz="1700" b="1">
                <a:solidFill>
                  <a:srgbClr val="F47400"/>
                </a:solidFill>
                <a:latin typeface="Arial"/>
              </a:rPr>
              <a:t>Over 78 years</a:t>
            </a:r>
          </a:p>
          <a:p>
            <a:pPr algn="ctr">
              <a:lnSpc>
                <a:spcPct val="110000"/>
              </a:lnSpc>
              <a:spcBef>
                <a:spcPts val="400"/>
              </a:spcBef>
              <a:spcAft>
                <a:spcPts val="200"/>
              </a:spcAft>
            </a:pPr>
            <a:r>
              <a:rPr sz="1050" b="0">
                <a:solidFill>
                  <a:srgbClr val="1A1A1A"/>
                </a:solidFill>
                <a:latin typeface="Arial"/>
              </a:rPr>
              <a:t>of fighting global poverty — now in 109 countries, reaching 167 million people worldwide.</a:t>
            </a:r>
          </a:p>
        </p:txBody>
      </p:sp>
      <p:sp>
        <p:nvSpPr>
          <p:cNvPr id="12" name="Rectangle 11"/>
          <p:cNvSpPr/>
          <p:nvPr/>
        </p:nvSpPr>
        <p:spPr>
          <a:xfrm>
            <a:off x="4160520" y="3977639"/>
            <a:ext cx="3063240" cy="288036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4206240"/>
            <a:ext cx="2606040" cy="2468880"/>
          </a:xfrm>
          <a:prstGeom prst="rect">
            <a:avLst/>
          </a:prstGeom>
          <a:noFill/>
        </p:spPr>
        <p:txBody>
          <a:bodyPr wrap="square" anchor="t" lIns="0" rIns="0" tIns="0" bIns="0">
            <a:spAutoFit/>
          </a:bodyPr>
          <a:lstStyle/>
          <a:p>
            <a:pPr algn="l">
              <a:lnSpc>
                <a:spcPct val="112000"/>
              </a:lnSpc>
              <a:spcBef>
                <a:spcPts val="0"/>
              </a:spcBef>
              <a:spcAft>
                <a:spcPts val="200"/>
              </a:spcAft>
            </a:pPr>
            <a:r>
              <a:rPr sz="1100" b="1">
                <a:solidFill>
                  <a:srgbClr val="221D5E"/>
                </a:solidFill>
                <a:latin typeface="Arial"/>
              </a:rPr>
              <a:t>WHAT THE NAME MEANS</a:t>
            </a:r>
          </a:p>
          <a:p>
            <a:pPr algn="l">
              <a:lnSpc>
                <a:spcPct val="112000"/>
              </a:lnSpc>
              <a:spcBef>
                <a:spcPts val="400"/>
              </a:spcBef>
              <a:spcAft>
                <a:spcPts val="200"/>
              </a:spcAft>
            </a:pPr>
            <a:r>
              <a:rPr sz="1100" b="0">
                <a:solidFill>
                  <a:srgbClr val="1A1A1A"/>
                </a:solidFill>
                <a:latin typeface="Arial"/>
              </a:rPr>
              <a:t>Founded as the Cooperative for American Remittances to Europe. As the mission grew worldwide, in 1992 the name became Cooperative for Assistance and Relief Everywhere — and the “E” became “Everywhere.”</a:t>
            </a:r>
          </a:p>
        </p:txBody>
      </p:sp>
      <p:sp>
        <p:nvSpPr>
          <p:cNvPr id="14" name="Rectangle 13"/>
          <p:cNvSpPr/>
          <p:nvPr/>
        </p:nvSpPr>
        <p:spPr>
          <a:xfrm>
            <a:off x="7726679" y="3977639"/>
            <a:ext cx="2834640" cy="288036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4206240"/>
            <a:ext cx="2377440" cy="2468880"/>
          </a:xfrm>
          <a:prstGeom prst="rect">
            <a:avLst/>
          </a:prstGeom>
          <a:noFill/>
        </p:spPr>
        <p:txBody>
          <a:bodyPr wrap="square" anchor="t" lIns="0" rIns="0" tIns="0" bIns="0">
            <a:spAutoFit/>
          </a:bodyPr>
          <a:lstStyle/>
          <a:p>
            <a:pPr algn="l">
              <a:lnSpc>
                <a:spcPct val="112000"/>
              </a:lnSpc>
              <a:spcBef>
                <a:spcPts val="0"/>
              </a:spcBef>
              <a:spcAft>
                <a:spcPts val="200"/>
              </a:spcAft>
            </a:pPr>
            <a:r>
              <a:rPr sz="1100" b="1">
                <a:solidFill>
                  <a:srgbClr val="221D5E"/>
                </a:solidFill>
                <a:latin typeface="Arial"/>
              </a:rPr>
              <a:t>CARE TODAY (2024)</a:t>
            </a:r>
          </a:p>
          <a:p>
            <a:pPr algn="l">
              <a:lnSpc>
                <a:spcPct val="112000"/>
              </a:lnSpc>
              <a:spcBef>
                <a:spcPts val="400"/>
              </a:spcBef>
              <a:spcAft>
                <a:spcPts val="200"/>
              </a:spcAft>
            </a:pPr>
            <a:r>
              <a:rPr sz="1100" b="0">
                <a:solidFill>
                  <a:srgbClr val="1A1A1A"/>
                </a:solidFill>
                <a:latin typeface="Arial"/>
              </a:rPr>
              <a:t>CARE works in over 118 countries, reaching more than 53 million people through 1,450 projects — with CARE Nigeria among its country offices.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History of CARE in Nigeria</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914400"/>
          </a:xfrm>
          <a:prstGeom prst="rect">
            <a:avLst/>
          </a:prstGeom>
          <a:noFill/>
        </p:spPr>
        <p:txBody>
          <a:bodyPr wrap="square" anchor="t" lIns="0" rIns="0" tIns="0" bIns="0">
            <a:spAutoFit/>
          </a:bodyPr>
          <a:lstStyle/>
          <a:p>
            <a:pPr algn="l">
              <a:lnSpc>
                <a:spcPct val="112000"/>
              </a:lnSpc>
              <a:spcBef>
                <a:spcPts val="0"/>
              </a:spcBef>
              <a:spcAft>
                <a:spcPts val="300"/>
              </a:spcAft>
            </a:pPr>
            <a:r>
              <a:rPr sz="1300" b="0">
                <a:solidFill>
                  <a:srgbClr val="1A1A1A"/>
                </a:solidFill>
                <a:latin typeface="Arial"/>
              </a:rPr>
              <a:t>The story of CARE started in Nigeria long before the establishment of a Country Office. In 2001/2002, the Regional Office for West Africa started implementing cross-border programming in Nigeria.</a:t>
            </a:r>
          </a:p>
        </p:txBody>
      </p:sp>
      <p:sp>
        <p:nvSpPr>
          <p:cNvPr id="8" name="Rectangle 7"/>
          <p:cNvSpPr/>
          <p:nvPr/>
        </p:nvSpPr>
        <p:spPr>
          <a:xfrm>
            <a:off x="411480" y="2286000"/>
            <a:ext cx="4983480" cy="178308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68880"/>
            <a:ext cx="4480560" cy="1463040"/>
          </a:xfrm>
          <a:prstGeom prst="rect">
            <a:avLst/>
          </a:prstGeom>
          <a:noFill/>
        </p:spPr>
        <p:txBody>
          <a:bodyPr wrap="square" anchor="t" lIns="0" rIns="0" tIns="0" bIns="0">
            <a:spAutoFit/>
          </a:bodyPr>
          <a:lstStyle/>
          <a:p>
            <a:pPr algn="l">
              <a:lnSpc>
                <a:spcPct val="110000"/>
              </a:lnSpc>
              <a:spcBef>
                <a:spcPts val="0"/>
              </a:spcBef>
              <a:spcAft>
                <a:spcPts val="200"/>
              </a:spcAft>
            </a:pPr>
            <a:r>
              <a:rPr sz="1100" b="1">
                <a:solidFill>
                  <a:srgbClr val="F4B122"/>
                </a:solidFill>
                <a:latin typeface="Arial"/>
              </a:rPr>
              <a:t>27 APRIL 2017 — OFFICIAL REGISTRATION</a:t>
            </a:r>
          </a:p>
          <a:p>
            <a:pPr algn="l">
              <a:lnSpc>
                <a:spcPct val="110000"/>
              </a:lnSpc>
              <a:spcBef>
                <a:spcPts val="300"/>
              </a:spcBef>
              <a:spcAft>
                <a:spcPts val="200"/>
              </a:spcAft>
            </a:pPr>
            <a:r>
              <a:rPr sz="1050" b="0">
                <a:solidFill>
                  <a:srgbClr val="FFFFFF"/>
                </a:solidFill>
                <a:latin typeface="Arial"/>
              </a:rPr>
              <a:t>As a result of the protracted humanitarian crisis in the northeast, CARE was officially registered in Nigeria with the Corporate Affairs Commission (CAC), and signed a Memorandum of Understanding (MOU) with the Government of Nigeria.</a:t>
            </a:r>
          </a:p>
        </p:txBody>
      </p:sp>
      <p:sp>
        <p:nvSpPr>
          <p:cNvPr id="10" name="Rectangle 9"/>
          <p:cNvSpPr/>
          <p:nvPr/>
        </p:nvSpPr>
        <p:spPr>
          <a:xfrm>
            <a:off x="5623560" y="2286000"/>
            <a:ext cx="4937760" cy="178308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70448" y="2468880"/>
            <a:ext cx="4480560" cy="1463040"/>
          </a:xfrm>
          <a:prstGeom prst="rect">
            <a:avLst/>
          </a:prstGeom>
          <a:noFill/>
        </p:spPr>
        <p:txBody>
          <a:bodyPr wrap="square" anchor="t" lIns="0" rIns="0" tIns="0" bIns="0">
            <a:spAutoFit/>
          </a:bodyPr>
          <a:lstStyle/>
          <a:p>
            <a:pPr algn="l">
              <a:lnSpc>
                <a:spcPct val="110000"/>
              </a:lnSpc>
              <a:spcBef>
                <a:spcPts val="0"/>
              </a:spcBef>
              <a:spcAft>
                <a:spcPts val="200"/>
              </a:spcAft>
            </a:pPr>
            <a:r>
              <a:rPr sz="1100" b="1">
                <a:solidFill>
                  <a:srgbClr val="221D5E"/>
                </a:solidFill>
                <a:latin typeface="Arial"/>
              </a:rPr>
              <a:t>FIRST PROGRAMS</a:t>
            </a:r>
          </a:p>
          <a:p>
            <a:pPr algn="l">
              <a:lnSpc>
                <a:spcPct val="110000"/>
              </a:lnSpc>
              <a:spcBef>
                <a:spcPts val="300"/>
              </a:spcBef>
              <a:spcAft>
                <a:spcPts val="200"/>
              </a:spcAft>
            </a:pPr>
            <a:r>
              <a:rPr sz="1050" b="0">
                <a:solidFill>
                  <a:srgbClr val="1A1A1A"/>
                </a:solidFill>
                <a:latin typeface="Arial"/>
              </a:rPr>
              <a:t>Program implementation focused specifically on Borno and Yobe States, with Reproductive Health and Food Security Projects — driven by the humanitarian crisis in the northeast.</a:t>
            </a:r>
          </a:p>
        </p:txBody>
      </p:sp>
      <p:sp>
        <p:nvSpPr>
          <p:cNvPr id="12" name="Rectangle 11"/>
          <p:cNvSpPr/>
          <p:nvPr/>
        </p:nvSpPr>
        <p:spPr>
          <a:xfrm>
            <a:off x="411480" y="4343400"/>
            <a:ext cx="4983480" cy="1691640"/>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526280"/>
            <a:ext cx="4480560" cy="1371600"/>
          </a:xfrm>
          <a:prstGeom prst="rect">
            <a:avLst/>
          </a:prstGeom>
          <a:noFill/>
        </p:spPr>
        <p:txBody>
          <a:bodyPr wrap="square" anchor="t" lIns="0" rIns="0" tIns="0" bIns="0">
            <a:spAutoFit/>
          </a:bodyPr>
          <a:lstStyle/>
          <a:p>
            <a:pPr algn="l">
              <a:lnSpc>
                <a:spcPct val="110000"/>
              </a:lnSpc>
              <a:spcBef>
                <a:spcPts val="0"/>
              </a:spcBef>
              <a:spcAft>
                <a:spcPts val="200"/>
              </a:spcAft>
            </a:pPr>
            <a:r>
              <a:rPr sz="1100" b="1">
                <a:solidFill>
                  <a:srgbClr val="221D5E"/>
                </a:solidFill>
                <a:latin typeface="Arial"/>
              </a:rPr>
              <a:t>FIRST DONORS</a:t>
            </a:r>
          </a:p>
          <a:p>
            <a:pPr algn="l">
              <a:lnSpc>
                <a:spcPct val="110000"/>
              </a:lnSpc>
              <a:spcBef>
                <a:spcPts val="300"/>
              </a:spcBef>
              <a:spcAft>
                <a:spcPts val="200"/>
              </a:spcAft>
            </a:pPr>
            <a:r>
              <a:rPr sz="1050" b="0">
                <a:solidFill>
                  <a:srgbClr val="221D5E"/>
                </a:solidFill>
                <a:latin typeface="Arial"/>
              </a:rPr>
              <a:t>Our first donors were CARE USA, CARE Canada, and the World Food Programme (WFP). Our focus areas are selected for relevancy and responsiveness.</a:t>
            </a:r>
          </a:p>
        </p:txBody>
      </p:sp>
      <p:sp>
        <p:nvSpPr>
          <p:cNvPr id="14" name="Rectangle 13"/>
          <p:cNvSpPr/>
          <p:nvPr/>
        </p:nvSpPr>
        <p:spPr>
          <a:xfrm>
            <a:off x="5623560" y="4343400"/>
            <a:ext cx="4937760" cy="1691640"/>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70448" y="4526280"/>
            <a:ext cx="4480560" cy="1371600"/>
          </a:xfrm>
          <a:prstGeom prst="rect">
            <a:avLst/>
          </a:prstGeom>
          <a:noFill/>
        </p:spPr>
        <p:txBody>
          <a:bodyPr wrap="square" anchor="t" lIns="0" rIns="0" tIns="0" bIns="0">
            <a:spAutoFit/>
          </a:bodyPr>
          <a:lstStyle/>
          <a:p>
            <a:pPr algn="l">
              <a:lnSpc>
                <a:spcPct val="110000"/>
              </a:lnSpc>
              <a:spcBef>
                <a:spcPts val="0"/>
              </a:spcBef>
              <a:spcAft>
                <a:spcPts val="200"/>
              </a:spcAft>
            </a:pPr>
            <a:r>
              <a:rPr sz="1100" b="1">
                <a:solidFill>
                  <a:srgbClr val="221D5E"/>
                </a:solidFill>
                <a:latin typeface="Arial"/>
              </a:rPr>
              <a:t>BEYOND EMERGENCY RESPONSE</a:t>
            </a:r>
          </a:p>
          <a:p>
            <a:pPr algn="l">
              <a:lnSpc>
                <a:spcPct val="110000"/>
              </a:lnSpc>
              <a:spcBef>
                <a:spcPts val="300"/>
              </a:spcBef>
              <a:spcAft>
                <a:spcPts val="200"/>
              </a:spcAft>
            </a:pPr>
            <a:r>
              <a:rPr sz="1050" b="0">
                <a:solidFill>
                  <a:srgbClr val="221D5E"/>
                </a:solidFill>
                <a:latin typeface="Arial"/>
              </a:rPr>
              <a:t>CARE supports longer-term efforts that strengthen resilience, improve social service systems, and influence federal and state policies.</a:t>
            </a:r>
          </a:p>
        </p:txBody>
      </p:sp>
      <p:sp>
        <p:nvSpPr>
          <p:cNvPr id="16" name="Rectangle 15"/>
          <p:cNvSpPr/>
          <p:nvPr/>
        </p:nvSpPr>
        <p:spPr>
          <a:xfrm>
            <a:off x="411480" y="6355080"/>
            <a:ext cx="10149840" cy="105156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510528"/>
            <a:ext cx="9601200" cy="777240"/>
          </a:xfrm>
          <a:prstGeom prst="rect">
            <a:avLst/>
          </a:prstGeom>
          <a:noFill/>
        </p:spPr>
        <p:txBody>
          <a:bodyPr wrap="square" anchor="ctr" lIns="0" rIns="0" tIns="0" bIns="0">
            <a:spAutoFit/>
          </a:bodyPr>
          <a:lstStyle/>
          <a:p>
            <a:pPr algn="l">
              <a:lnSpc>
                <a:spcPct val="110000"/>
              </a:lnSpc>
              <a:spcBef>
                <a:spcPts val="0"/>
              </a:spcBef>
              <a:spcAft>
                <a:spcPts val="300"/>
              </a:spcAft>
            </a:pPr>
            <a:r>
              <a:rPr sz="1150" b="0">
                <a:solidFill>
                  <a:srgbClr val="1A1A1A"/>
                </a:solidFill>
                <a:latin typeface="Arial"/>
              </a:rPr>
              <a:t>Since 2017, we have reached over 3.1 million people with lifesaving humanitarian assistance in Food and Nutrition, WASH, Protection, Violence Against Women and Girls, and Sexual and Reproductive Health and Rights.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History of CARE in Nigeria — Growth &amp; Impact</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1234440"/>
          </a:xfrm>
          <a:prstGeom prst="rect">
            <a:avLst/>
          </a:prstGeom>
          <a:noFill/>
        </p:spPr>
        <p:txBody>
          <a:bodyPr wrap="square" anchor="t" lIns="0" rIns="0" tIns="0" bIns="0">
            <a:spAutoFit/>
          </a:bodyPr>
          <a:lstStyle/>
          <a:p>
            <a:pPr algn="l">
              <a:lnSpc>
                <a:spcPct val="112000"/>
              </a:lnSpc>
              <a:spcBef>
                <a:spcPts val="0"/>
              </a:spcBef>
              <a:spcAft>
                <a:spcPts val="300"/>
              </a:spcAft>
            </a:pPr>
            <a:r>
              <a:rPr sz="1300" b="0">
                <a:solidFill>
                  <a:srgbClr val="1A1A1A"/>
                </a:solidFill>
                <a:latin typeface="Arial"/>
              </a:rPr>
              <a:t>From Borno and Yobe, the first two states where CARE started its implementation in Nigeria, we extended our presence to Kebbi, Nasarawa, Jigawa, Bauchi, Adamawa, Kogi, Niger, and, most recently, to Oyo, Lagos, Kano, Enugu, Sokoto, and Katsina as of 2024.</a:t>
            </a:r>
          </a:p>
        </p:txBody>
      </p:sp>
      <p:sp>
        <p:nvSpPr>
          <p:cNvPr id="8" name="Rectangle 7"/>
          <p:cNvSpPr/>
          <p:nvPr/>
        </p:nvSpPr>
        <p:spPr>
          <a:xfrm>
            <a:off x="411480" y="2514600"/>
            <a:ext cx="10149840" cy="105156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9601200" cy="777240"/>
          </a:xfrm>
          <a:prstGeom prst="rect">
            <a:avLst/>
          </a:prstGeom>
          <a:noFill/>
        </p:spPr>
        <p:txBody>
          <a:bodyPr wrap="square" anchor="ctr" lIns="0" rIns="0" tIns="0" bIns="0">
            <a:spAutoFit/>
          </a:bodyPr>
          <a:lstStyle/>
          <a:p>
            <a:pPr algn="l">
              <a:lnSpc>
                <a:spcPct val="105000"/>
              </a:lnSpc>
              <a:spcBef>
                <a:spcPts val="0"/>
              </a:spcBef>
              <a:spcAft>
                <a:spcPts val="300"/>
              </a:spcAft>
            </a:pPr>
            <a:r>
              <a:rPr sz="1300" b="0">
                <a:solidFill>
                  <a:srgbClr val="FFFFFF"/>
                </a:solidFill>
                <a:latin typeface="Arial"/>
              </a:rPr>
              <a:t>CARE works in Nigeria, contributing to </a:t>
            </a:r>
          </a:p>
        </p:txBody>
      </p:sp>
      <p:sp>
        <p:nvSpPr>
          <p:cNvPr id="10" name="TextBox 9"/>
          <p:cNvSpPr txBox="1"/>
          <p:nvPr/>
        </p:nvSpPr>
        <p:spPr>
          <a:xfrm>
            <a:off x="2697480" y="2724912"/>
            <a:ext cx="7680960" cy="731520"/>
          </a:xfrm>
          <a:prstGeom prst="rect">
            <a:avLst/>
          </a:prstGeom>
          <a:noFill/>
        </p:spPr>
        <p:txBody>
          <a:bodyPr wrap="square" anchor="ctr" lIns="0" rIns="0" tIns="0" bIns="0">
            <a:spAutoFit/>
          </a:bodyPr>
          <a:lstStyle/>
          <a:p>
            <a:pPr algn="l">
              <a:lnSpc>
                <a:spcPct val="105000"/>
              </a:lnSpc>
              <a:spcBef>
                <a:spcPts val="0"/>
              </a:spcBef>
              <a:spcAft>
                <a:spcPts val="300"/>
              </a:spcAft>
            </a:pPr>
            <a:r>
              <a:rPr sz="1300" b="1">
                <a:solidFill>
                  <a:srgbClr val="F4B122"/>
                </a:solidFill>
                <a:latin typeface="Arial"/>
              </a:rPr>
              <a:t>saving lives, fighting poverty, and promoting social justice.</a:t>
            </a:r>
          </a:p>
        </p:txBody>
      </p:sp>
      <p:sp>
        <p:nvSpPr>
          <p:cNvPr id="11" name="Oval 10"/>
          <p:cNvSpPr/>
          <p:nvPr/>
        </p:nvSpPr>
        <p:spPr>
          <a:xfrm>
            <a:off x="411480" y="3977639"/>
            <a:ext cx="4983480" cy="2514600"/>
          </a:xfrm>
          <a:prstGeom prst="ellipse">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709160"/>
            <a:ext cx="3520440" cy="1463040"/>
          </a:xfrm>
          <a:prstGeom prst="rect">
            <a:avLst/>
          </a:prstGeom>
          <a:noFill/>
        </p:spPr>
        <p:txBody>
          <a:bodyPr wrap="square" anchor="t" lIns="0" rIns="0" tIns="0" bIns="0">
            <a:spAutoFit/>
          </a:bodyPr>
          <a:lstStyle/>
          <a:p>
            <a:pPr algn="ctr">
              <a:lnSpc>
                <a:spcPct val="110000"/>
              </a:lnSpc>
              <a:spcBef>
                <a:spcPts val="0"/>
              </a:spcBef>
              <a:spcAft>
                <a:spcPts val="200"/>
              </a:spcAft>
            </a:pPr>
            <a:r>
              <a:rPr sz="1600" b="1">
                <a:solidFill>
                  <a:srgbClr val="F47400"/>
                </a:solidFill>
                <a:latin typeface="Arial"/>
              </a:rPr>
              <a:t>3.1M people reached</a:t>
            </a:r>
          </a:p>
          <a:p>
            <a:pPr algn="ctr">
              <a:lnSpc>
                <a:spcPct val="110000"/>
              </a:lnSpc>
              <a:spcBef>
                <a:spcPts val="300"/>
              </a:spcBef>
              <a:spcAft>
                <a:spcPts val="200"/>
              </a:spcAft>
            </a:pPr>
            <a:r>
              <a:rPr sz="1100" b="0">
                <a:solidFill>
                  <a:srgbClr val="1A1A1A"/>
                </a:solidFill>
                <a:latin typeface="Arial"/>
              </a:rPr>
              <a:t>directly with lifesaving humanitarian assistance since 2017</a:t>
            </a:r>
          </a:p>
        </p:txBody>
      </p:sp>
      <p:sp>
        <p:nvSpPr>
          <p:cNvPr id="13" name="Rectangle 12"/>
          <p:cNvSpPr/>
          <p:nvPr/>
        </p:nvSpPr>
        <p:spPr>
          <a:xfrm>
            <a:off x="5623560" y="3977639"/>
            <a:ext cx="4937760" cy="251460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4206240"/>
            <a:ext cx="4434840" cy="50292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ASSISTANCE DELIVERED IN:</a:t>
            </a:r>
          </a:p>
        </p:txBody>
      </p:sp>
      <p:sp>
        <p:nvSpPr>
          <p:cNvPr id="15" name="TextBox 14"/>
          <p:cNvSpPr txBox="1"/>
          <p:nvPr/>
        </p:nvSpPr>
        <p:spPr>
          <a:xfrm>
            <a:off x="5897880" y="4709160"/>
            <a:ext cx="4434840" cy="1737360"/>
          </a:xfrm>
          <a:prstGeom prst="rect">
            <a:avLst/>
          </a:prstGeom>
          <a:noFill/>
        </p:spPr>
        <p:txBody>
          <a:bodyPr wrap="square" lIns="0" tIns="0">
            <a:spAutoFit/>
          </a:bodyPr>
          <a:lstStyle/>
          <a:p>
            <a:pPr>
              <a:lnSpc>
                <a:spcPct val="108000"/>
              </a:lnSpc>
              <a:spcAft>
                <a:spcPts val="300"/>
              </a:spcAft>
            </a:pPr>
            <a:r>
              <a:rPr sz="1050" b="1">
                <a:solidFill>
                  <a:srgbClr val="F47400"/>
                </a:solidFill>
                <a:latin typeface="Arial"/>
              </a:rPr>
              <a:t>▪  </a:t>
            </a:r>
            <a:r>
              <a:rPr sz="1050">
                <a:solidFill>
                  <a:srgbClr val="1A1A1A"/>
                </a:solidFill>
                <a:latin typeface="Arial"/>
              </a:rPr>
              <a:t>Food and Nutrition</a:t>
            </a:r>
          </a:p>
          <a:p>
            <a:pPr>
              <a:lnSpc>
                <a:spcPct val="108000"/>
              </a:lnSpc>
              <a:spcAft>
                <a:spcPts val="300"/>
              </a:spcAft>
            </a:pPr>
            <a:r>
              <a:rPr sz="1050" b="1">
                <a:solidFill>
                  <a:srgbClr val="F47400"/>
                </a:solidFill>
                <a:latin typeface="Arial"/>
              </a:rPr>
              <a:t>▪  </a:t>
            </a:r>
            <a:r>
              <a:rPr sz="1050">
                <a:solidFill>
                  <a:srgbClr val="1A1A1A"/>
                </a:solidFill>
                <a:latin typeface="Arial"/>
              </a:rPr>
              <a:t>Water, Sanitation, and Hygiene (WASH)</a:t>
            </a:r>
          </a:p>
          <a:p>
            <a:pPr>
              <a:lnSpc>
                <a:spcPct val="108000"/>
              </a:lnSpc>
              <a:spcAft>
                <a:spcPts val="300"/>
              </a:spcAft>
            </a:pPr>
            <a:r>
              <a:rPr sz="1050" b="1">
                <a:solidFill>
                  <a:srgbClr val="F47400"/>
                </a:solidFill>
                <a:latin typeface="Arial"/>
              </a:rPr>
              <a:t>▪  </a:t>
            </a:r>
            <a:r>
              <a:rPr sz="1050">
                <a:solidFill>
                  <a:srgbClr val="1A1A1A"/>
                </a:solidFill>
                <a:latin typeface="Arial"/>
              </a:rPr>
              <a:t>Protection</a:t>
            </a:r>
          </a:p>
          <a:p>
            <a:pPr>
              <a:lnSpc>
                <a:spcPct val="108000"/>
              </a:lnSpc>
              <a:spcAft>
                <a:spcPts val="300"/>
              </a:spcAft>
            </a:pPr>
            <a:r>
              <a:rPr sz="1050" b="1">
                <a:solidFill>
                  <a:srgbClr val="F47400"/>
                </a:solidFill>
                <a:latin typeface="Arial"/>
              </a:rPr>
              <a:t>▪  </a:t>
            </a:r>
            <a:r>
              <a:rPr sz="1050">
                <a:solidFill>
                  <a:srgbClr val="1A1A1A"/>
                </a:solidFill>
                <a:latin typeface="Arial"/>
              </a:rPr>
              <a:t>Violence Against Women and Girls</a:t>
            </a:r>
          </a:p>
          <a:p>
            <a:pPr>
              <a:lnSpc>
                <a:spcPct val="108000"/>
              </a:lnSpc>
              <a:spcAft>
                <a:spcPts val="300"/>
              </a:spcAft>
            </a:pPr>
            <a:r>
              <a:rPr sz="1050" b="1">
                <a:solidFill>
                  <a:srgbClr val="F47400"/>
                </a:solidFill>
                <a:latin typeface="Arial"/>
              </a:rPr>
              <a:t>▪  </a:t>
            </a:r>
            <a:r>
              <a:rPr sz="1050">
                <a:solidFill>
                  <a:srgbClr val="1A1A1A"/>
                </a:solidFill>
                <a:latin typeface="Arial"/>
              </a:rPr>
              <a:t>Sexual and Reproductive Health and Rights</a:t>
            </a:r>
          </a:p>
        </p:txBody>
      </p:sp>
      <p:sp>
        <p:nvSpPr>
          <p:cNvPr id="16" name="TextBox 15"/>
          <p:cNvSpPr txBox="1"/>
          <p:nvPr/>
        </p:nvSpPr>
        <p:spPr>
          <a:xfrm>
            <a:off x="411480" y="6720840"/>
            <a:ext cx="8686800" cy="320040"/>
          </a:xfrm>
          <a:prstGeom prst="rect">
            <a:avLst/>
          </a:prstGeom>
          <a:noFill/>
        </p:spPr>
        <p:txBody>
          <a:bodyPr wrap="square" anchor="t" lIns="0" rIns="0" tIns="0" bIns="0">
            <a:spAutoFit/>
          </a:bodyPr>
          <a:lstStyle/>
          <a:p>
            <a:pPr algn="l">
              <a:lnSpc>
                <a:spcPct val="105000"/>
              </a:lnSpc>
              <a:spcBef>
                <a:spcPts val="0"/>
              </a:spcBef>
              <a:spcAft>
                <a:spcPts val="300"/>
              </a:spcAft>
            </a:pPr>
            <a:r>
              <a:rPr sz="700" b="0">
                <a:solidFill>
                  <a:srgbClr val="D9531E"/>
                </a:solidFill>
                <a:latin typeface="Arial"/>
              </a:rPr>
              <a:t>Source: carenigeria.org/history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CARE Comes to Nigeria: The Timeline</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457200"/>
          </a:xfrm>
          <a:prstGeom prst="rect">
            <a:avLst/>
          </a:prstGeom>
          <a:noFill/>
        </p:spPr>
        <p:txBody>
          <a:bodyPr wrap="square" anchor="t" lIns="0" rIns="0" tIns="0" bIns="0">
            <a:spAutoFit/>
          </a:bodyPr>
          <a:lstStyle/>
          <a:p>
            <a:pPr algn="l">
              <a:lnSpc>
                <a:spcPct val="105000"/>
              </a:lnSpc>
              <a:spcBef>
                <a:spcPts val="0"/>
              </a:spcBef>
              <a:spcAft>
                <a:spcPts val="300"/>
              </a:spcAft>
            </a:pPr>
            <a:r>
              <a:rPr sz="1350" b="0">
                <a:solidFill>
                  <a:srgbClr val="1A1A1A"/>
                </a:solidFill>
                <a:latin typeface="Arial"/>
              </a:rPr>
              <a:t>The story of CARE in Nigeria began long before the country office existed</a:t>
            </a:r>
          </a:p>
        </p:txBody>
      </p:sp>
      <p:sp>
        <p:nvSpPr>
          <p:cNvPr id="8" name="Rectangle 7"/>
          <p:cNvSpPr/>
          <p:nvPr/>
        </p:nvSpPr>
        <p:spPr>
          <a:xfrm>
            <a:off x="914400" y="4160520"/>
            <a:ext cx="9144000" cy="64008"/>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08760" y="3913632"/>
            <a:ext cx="566928" cy="566928"/>
          </a:xfrm>
          <a:prstGeom prst="ellipse">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4041648"/>
            <a:ext cx="566928" cy="365760"/>
          </a:xfrm>
          <a:prstGeom prst="rect">
            <a:avLst/>
          </a:prstGeom>
          <a:noFill/>
        </p:spPr>
        <p:txBody>
          <a:bodyPr wrap="square" anchor="t" lIns="0" rIns="0" tIns="0" bIns="0">
            <a:spAutoFit/>
          </a:bodyPr>
          <a:lstStyle/>
          <a:p>
            <a:pPr algn="ctr">
              <a:lnSpc>
                <a:spcPct val="105000"/>
              </a:lnSpc>
              <a:spcBef>
                <a:spcPts val="0"/>
              </a:spcBef>
              <a:spcAft>
                <a:spcPts val="300"/>
              </a:spcAft>
            </a:pPr>
            <a:r>
              <a:rPr sz="1300" b="1">
                <a:solidFill>
                  <a:srgbClr val="FFFFFF"/>
                </a:solidFill>
                <a:latin typeface="Arial"/>
              </a:rPr>
              <a:t>1</a:t>
            </a:r>
          </a:p>
        </p:txBody>
      </p:sp>
      <p:sp>
        <p:nvSpPr>
          <p:cNvPr id="11" name="Rounded Rectangle 10"/>
          <p:cNvSpPr/>
          <p:nvPr/>
        </p:nvSpPr>
        <p:spPr>
          <a:xfrm>
            <a:off x="457200" y="1691640"/>
            <a:ext cx="2514600" cy="196596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828800"/>
            <a:ext cx="2286000" cy="1737360"/>
          </a:xfrm>
          <a:prstGeom prst="rect">
            <a:avLst/>
          </a:prstGeom>
          <a:noFill/>
        </p:spPr>
        <p:txBody>
          <a:bodyPr wrap="square" anchor="t" lIns="0" rIns="0" tIns="0" bIns="0">
            <a:spAutoFit/>
          </a:bodyPr>
          <a:lstStyle/>
          <a:p>
            <a:pPr algn="ctr">
              <a:lnSpc>
                <a:spcPct val="108000"/>
              </a:lnSpc>
              <a:spcBef>
                <a:spcPts val="0"/>
              </a:spcBef>
              <a:spcAft>
                <a:spcPts val="100"/>
              </a:spcAft>
            </a:pPr>
            <a:r>
              <a:rPr sz="1200" b="1">
                <a:solidFill>
                  <a:srgbClr val="221D5E"/>
                </a:solidFill>
                <a:latin typeface="Arial"/>
              </a:rPr>
              <a:t>2001 / 2002</a:t>
            </a:r>
          </a:p>
          <a:p>
            <a:pPr algn="ctr">
              <a:lnSpc>
                <a:spcPct val="108000"/>
              </a:lnSpc>
              <a:spcBef>
                <a:spcPts val="200"/>
              </a:spcBef>
              <a:spcAft>
                <a:spcPts val="100"/>
              </a:spcAft>
            </a:pPr>
            <a:r>
              <a:rPr sz="1100" b="1">
                <a:solidFill>
                  <a:srgbClr val="221D5E"/>
                </a:solidFill>
                <a:latin typeface="Arial"/>
              </a:rPr>
              <a:t>Cross-Border Beginnings</a:t>
            </a:r>
          </a:p>
          <a:p>
            <a:pPr algn="ctr">
              <a:lnSpc>
                <a:spcPct val="108000"/>
              </a:lnSpc>
              <a:spcBef>
                <a:spcPts val="200"/>
              </a:spcBef>
              <a:spcAft>
                <a:spcPts val="100"/>
              </a:spcAft>
            </a:pPr>
            <a:r>
              <a:rPr sz="900" b="0">
                <a:solidFill>
                  <a:srgbClr val="221D5E"/>
                </a:solidFill>
                <a:latin typeface="Arial"/>
              </a:rPr>
              <a:t>The CARE Regional Office for West Africa started implementing cross-border programming in Nigeria.</a:t>
            </a:r>
          </a:p>
        </p:txBody>
      </p:sp>
      <p:sp>
        <p:nvSpPr>
          <p:cNvPr id="13" name="Oval 12"/>
          <p:cNvSpPr/>
          <p:nvPr/>
        </p:nvSpPr>
        <p:spPr>
          <a:xfrm>
            <a:off x="4206240" y="3913632"/>
            <a:ext cx="566928" cy="566928"/>
          </a:xfrm>
          <a:prstGeom prst="ellipse">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4041648"/>
            <a:ext cx="566928" cy="365760"/>
          </a:xfrm>
          <a:prstGeom prst="rect">
            <a:avLst/>
          </a:prstGeom>
          <a:noFill/>
        </p:spPr>
        <p:txBody>
          <a:bodyPr wrap="square" anchor="t" lIns="0" rIns="0" tIns="0" bIns="0">
            <a:spAutoFit/>
          </a:bodyPr>
          <a:lstStyle/>
          <a:p>
            <a:pPr algn="ctr">
              <a:lnSpc>
                <a:spcPct val="105000"/>
              </a:lnSpc>
              <a:spcBef>
                <a:spcPts val="0"/>
              </a:spcBef>
              <a:spcAft>
                <a:spcPts val="300"/>
              </a:spcAft>
            </a:pPr>
            <a:r>
              <a:rPr sz="1300" b="1">
                <a:solidFill>
                  <a:srgbClr val="FFFFFF"/>
                </a:solidFill>
                <a:latin typeface="Arial"/>
              </a:rPr>
              <a:t>2</a:t>
            </a:r>
          </a:p>
        </p:txBody>
      </p:sp>
      <p:sp>
        <p:nvSpPr>
          <p:cNvPr id="15" name="Rounded Rectangle 14"/>
          <p:cNvSpPr/>
          <p:nvPr/>
        </p:nvSpPr>
        <p:spPr>
          <a:xfrm>
            <a:off x="3154680" y="4736592"/>
            <a:ext cx="2514600" cy="1965960"/>
          </a:xfrm>
          <a:prstGeom prst="round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4873752"/>
            <a:ext cx="2286000" cy="1737360"/>
          </a:xfrm>
          <a:prstGeom prst="rect">
            <a:avLst/>
          </a:prstGeom>
          <a:noFill/>
        </p:spPr>
        <p:txBody>
          <a:bodyPr wrap="square" anchor="t" lIns="0" rIns="0" tIns="0" bIns="0">
            <a:spAutoFit/>
          </a:bodyPr>
          <a:lstStyle/>
          <a:p>
            <a:pPr algn="ctr">
              <a:lnSpc>
                <a:spcPct val="108000"/>
              </a:lnSpc>
              <a:spcBef>
                <a:spcPts val="0"/>
              </a:spcBef>
              <a:spcAft>
                <a:spcPts val="100"/>
              </a:spcAft>
            </a:pPr>
            <a:r>
              <a:rPr sz="1200" b="1">
                <a:solidFill>
                  <a:srgbClr val="D9531E"/>
                </a:solidFill>
                <a:latin typeface="Arial"/>
              </a:rPr>
              <a:t>27 April 2017</a:t>
            </a:r>
          </a:p>
          <a:p>
            <a:pPr algn="ctr">
              <a:lnSpc>
                <a:spcPct val="108000"/>
              </a:lnSpc>
              <a:spcBef>
                <a:spcPts val="200"/>
              </a:spcBef>
              <a:spcAft>
                <a:spcPts val="100"/>
              </a:spcAft>
            </a:pPr>
            <a:r>
              <a:rPr sz="1100" b="1">
                <a:solidFill>
                  <a:srgbClr val="1A1A1A"/>
                </a:solidFill>
                <a:latin typeface="Arial"/>
              </a:rPr>
              <a:t>Official Registration</a:t>
            </a:r>
          </a:p>
          <a:p>
            <a:pPr algn="ctr">
              <a:lnSpc>
                <a:spcPct val="108000"/>
              </a:lnSpc>
              <a:spcBef>
                <a:spcPts val="200"/>
              </a:spcBef>
              <a:spcAft>
                <a:spcPts val="100"/>
              </a:spcAft>
            </a:pPr>
            <a:r>
              <a:rPr sz="900" b="0">
                <a:solidFill>
                  <a:srgbClr val="1A1A1A"/>
                </a:solidFill>
                <a:latin typeface="Arial"/>
              </a:rPr>
              <a:t>CARE was registered with the Corporate Affairs Commission (CAC) and signed an MOU with the Government of Nigeria.</a:t>
            </a:r>
          </a:p>
        </p:txBody>
      </p:sp>
      <p:sp>
        <p:nvSpPr>
          <p:cNvPr id="17" name="Oval 16"/>
          <p:cNvSpPr/>
          <p:nvPr/>
        </p:nvSpPr>
        <p:spPr>
          <a:xfrm>
            <a:off x="6903720" y="3913632"/>
            <a:ext cx="566928" cy="566928"/>
          </a:xfrm>
          <a:prstGeom prst="ellipse">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4041648"/>
            <a:ext cx="566928" cy="365760"/>
          </a:xfrm>
          <a:prstGeom prst="rect">
            <a:avLst/>
          </a:prstGeom>
          <a:noFill/>
        </p:spPr>
        <p:txBody>
          <a:bodyPr wrap="square" anchor="t" lIns="0" rIns="0" tIns="0" bIns="0">
            <a:spAutoFit/>
          </a:bodyPr>
          <a:lstStyle/>
          <a:p>
            <a:pPr algn="ctr">
              <a:lnSpc>
                <a:spcPct val="105000"/>
              </a:lnSpc>
              <a:spcBef>
                <a:spcPts val="0"/>
              </a:spcBef>
              <a:spcAft>
                <a:spcPts val="300"/>
              </a:spcAft>
            </a:pPr>
            <a:r>
              <a:rPr sz="1300" b="1">
                <a:solidFill>
                  <a:srgbClr val="FFFFFF"/>
                </a:solidFill>
                <a:latin typeface="Arial"/>
              </a:rPr>
              <a:t>3</a:t>
            </a:r>
          </a:p>
        </p:txBody>
      </p:sp>
      <p:sp>
        <p:nvSpPr>
          <p:cNvPr id="19" name="Rounded Rectangle 18"/>
          <p:cNvSpPr/>
          <p:nvPr/>
        </p:nvSpPr>
        <p:spPr>
          <a:xfrm>
            <a:off x="5852160" y="1691640"/>
            <a:ext cx="2514600" cy="196596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61888" y="1828800"/>
            <a:ext cx="2286000" cy="1737360"/>
          </a:xfrm>
          <a:prstGeom prst="rect">
            <a:avLst/>
          </a:prstGeom>
          <a:noFill/>
        </p:spPr>
        <p:txBody>
          <a:bodyPr wrap="square" anchor="t" lIns="0" rIns="0" tIns="0" bIns="0">
            <a:spAutoFit/>
          </a:bodyPr>
          <a:lstStyle/>
          <a:p>
            <a:pPr algn="ctr">
              <a:lnSpc>
                <a:spcPct val="108000"/>
              </a:lnSpc>
              <a:spcBef>
                <a:spcPts val="0"/>
              </a:spcBef>
              <a:spcAft>
                <a:spcPts val="100"/>
              </a:spcAft>
            </a:pPr>
            <a:r>
              <a:rPr sz="1200" b="1">
                <a:solidFill>
                  <a:srgbClr val="221D5E"/>
                </a:solidFill>
                <a:latin typeface="Arial"/>
              </a:rPr>
              <a:t>2017</a:t>
            </a:r>
          </a:p>
          <a:p>
            <a:pPr algn="ctr">
              <a:lnSpc>
                <a:spcPct val="108000"/>
              </a:lnSpc>
              <a:spcBef>
                <a:spcPts val="200"/>
              </a:spcBef>
              <a:spcAft>
                <a:spcPts val="100"/>
              </a:spcAft>
            </a:pPr>
            <a:r>
              <a:rPr sz="1100" b="1">
                <a:solidFill>
                  <a:srgbClr val="221D5E"/>
                </a:solidFill>
                <a:latin typeface="Arial"/>
              </a:rPr>
              <a:t>First Programs</a:t>
            </a:r>
          </a:p>
          <a:p>
            <a:pPr algn="ctr">
              <a:lnSpc>
                <a:spcPct val="108000"/>
              </a:lnSpc>
              <a:spcBef>
                <a:spcPts val="200"/>
              </a:spcBef>
              <a:spcAft>
                <a:spcPts val="100"/>
              </a:spcAft>
            </a:pPr>
            <a:r>
              <a:rPr sz="900" b="0">
                <a:solidFill>
                  <a:srgbClr val="221D5E"/>
                </a:solidFill>
                <a:latin typeface="Arial"/>
              </a:rPr>
              <a:t>Borno and Yobe States — Reproductive Health and Food Security projects. First donors: CARE USA, CARE Canada, WFP.</a:t>
            </a:r>
          </a:p>
        </p:txBody>
      </p:sp>
      <p:sp>
        <p:nvSpPr>
          <p:cNvPr id="21" name="Oval 20"/>
          <p:cNvSpPr/>
          <p:nvPr/>
        </p:nvSpPr>
        <p:spPr>
          <a:xfrm>
            <a:off x="9601200" y="3913632"/>
            <a:ext cx="566928" cy="566928"/>
          </a:xfrm>
          <a:prstGeom prst="ellipse">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0" y="4041648"/>
            <a:ext cx="566928" cy="365760"/>
          </a:xfrm>
          <a:prstGeom prst="rect">
            <a:avLst/>
          </a:prstGeom>
          <a:noFill/>
        </p:spPr>
        <p:txBody>
          <a:bodyPr wrap="square" anchor="t" lIns="0" rIns="0" tIns="0" bIns="0">
            <a:spAutoFit/>
          </a:bodyPr>
          <a:lstStyle/>
          <a:p>
            <a:pPr algn="ctr">
              <a:lnSpc>
                <a:spcPct val="105000"/>
              </a:lnSpc>
              <a:spcBef>
                <a:spcPts val="0"/>
              </a:spcBef>
              <a:spcAft>
                <a:spcPts val="300"/>
              </a:spcAft>
            </a:pPr>
            <a:r>
              <a:rPr sz="1300" b="1">
                <a:solidFill>
                  <a:srgbClr val="FFFFFF"/>
                </a:solidFill>
                <a:latin typeface="Arial"/>
              </a:rPr>
              <a:t>4</a:t>
            </a:r>
          </a:p>
        </p:txBody>
      </p:sp>
      <p:sp>
        <p:nvSpPr>
          <p:cNvPr id="23" name="Rounded Rectangle 22"/>
          <p:cNvSpPr/>
          <p:nvPr/>
        </p:nvSpPr>
        <p:spPr>
          <a:xfrm>
            <a:off x="8549640" y="4736592"/>
            <a:ext cx="2514600" cy="1965960"/>
          </a:xfrm>
          <a:prstGeom prst="round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59368" y="4873752"/>
            <a:ext cx="2286000" cy="1737360"/>
          </a:xfrm>
          <a:prstGeom prst="rect">
            <a:avLst/>
          </a:prstGeom>
          <a:noFill/>
        </p:spPr>
        <p:txBody>
          <a:bodyPr wrap="square" anchor="t" lIns="0" rIns="0" tIns="0" bIns="0">
            <a:spAutoFit/>
          </a:bodyPr>
          <a:lstStyle/>
          <a:p>
            <a:pPr algn="ctr">
              <a:lnSpc>
                <a:spcPct val="108000"/>
              </a:lnSpc>
              <a:spcBef>
                <a:spcPts val="0"/>
              </a:spcBef>
              <a:spcAft>
                <a:spcPts val="100"/>
              </a:spcAft>
            </a:pPr>
            <a:r>
              <a:rPr sz="1200" b="1">
                <a:solidFill>
                  <a:srgbClr val="D9531E"/>
                </a:solidFill>
                <a:latin typeface="Arial"/>
              </a:rPr>
              <a:t>2024</a:t>
            </a:r>
          </a:p>
          <a:p>
            <a:pPr algn="ctr">
              <a:lnSpc>
                <a:spcPct val="108000"/>
              </a:lnSpc>
              <a:spcBef>
                <a:spcPts val="200"/>
              </a:spcBef>
              <a:spcAft>
                <a:spcPts val="100"/>
              </a:spcAft>
            </a:pPr>
            <a:r>
              <a:rPr sz="1100" b="1">
                <a:solidFill>
                  <a:srgbClr val="1A1A1A"/>
                </a:solidFill>
                <a:latin typeface="Arial"/>
              </a:rPr>
              <a:t>National Reach</a:t>
            </a:r>
          </a:p>
          <a:p>
            <a:pPr algn="ctr">
              <a:lnSpc>
                <a:spcPct val="108000"/>
              </a:lnSpc>
              <a:spcBef>
                <a:spcPts val="200"/>
              </a:spcBef>
              <a:spcAft>
                <a:spcPts val="100"/>
              </a:spcAft>
            </a:pPr>
            <a:r>
              <a:rPr sz="900" b="0">
                <a:solidFill>
                  <a:srgbClr val="1A1A1A"/>
                </a:solidFill>
                <a:latin typeface="Arial"/>
              </a:rPr>
              <a:t>Presence extended to 14 states — from the northeast to Oyo, Lagos, Kano, Enugu, Sokoto and Katsina.</a:t>
            </a:r>
          </a:p>
        </p:txBody>
      </p:sp>
      <p:sp>
        <p:nvSpPr>
          <p:cNvPr id="25" name="Rectangle 24"/>
          <p:cNvSpPr/>
          <p:nvPr/>
        </p:nvSpPr>
        <p:spPr>
          <a:xfrm>
            <a:off x="411480" y="6903720"/>
            <a:ext cx="10149840" cy="777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7022592"/>
            <a:ext cx="9601200" cy="548640"/>
          </a:xfrm>
          <a:prstGeom prst="rect">
            <a:avLst/>
          </a:prstGeom>
          <a:noFill/>
        </p:spPr>
        <p:txBody>
          <a:bodyPr wrap="square" anchor="ctr" lIns="0" rIns="0" tIns="0" bIns="0">
            <a:spAutoFit/>
          </a:bodyPr>
          <a:lstStyle/>
          <a:p>
            <a:pPr algn="l">
              <a:lnSpc>
                <a:spcPct val="105000"/>
              </a:lnSpc>
              <a:spcBef>
                <a:spcPts val="0"/>
              </a:spcBef>
              <a:spcAft>
                <a:spcPts val="300"/>
              </a:spcAft>
            </a:pPr>
            <a:r>
              <a:rPr sz="1150" b="1">
                <a:solidFill>
                  <a:srgbClr val="FFFFFF"/>
                </a:solidFill>
                <a:latin typeface="Arial"/>
              </a:rPr>
              <a:t>CARE began work in Nigeria in 2017 in response to the protracted humanitarian crisis in the northeast of the country.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Expansion Across Nigeria</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457200"/>
          </a:xfrm>
          <a:prstGeom prst="rect">
            <a:avLst/>
          </a:prstGeom>
          <a:noFill/>
        </p:spPr>
        <p:txBody>
          <a:bodyPr wrap="square" anchor="t" lIns="0" rIns="0" tIns="0" bIns="0">
            <a:spAutoFit/>
          </a:bodyPr>
          <a:lstStyle/>
          <a:p>
            <a:pPr algn="l">
              <a:lnSpc>
                <a:spcPct val="105000"/>
              </a:lnSpc>
              <a:spcBef>
                <a:spcPts val="0"/>
              </a:spcBef>
              <a:spcAft>
                <a:spcPts val="300"/>
              </a:spcAft>
            </a:pPr>
            <a:r>
              <a:rPr sz="1400" b="0">
                <a:solidFill>
                  <a:srgbClr val="1A1A1A"/>
                </a:solidFill>
                <a:latin typeface="Arial"/>
              </a:rPr>
              <a:t>From two states in 2017 to fourteen states in 2024</a:t>
            </a:r>
          </a:p>
        </p:txBody>
      </p:sp>
      <p:sp>
        <p:nvSpPr>
          <p:cNvPr id="8" name="Rectangle 7"/>
          <p:cNvSpPr/>
          <p:nvPr/>
        </p:nvSpPr>
        <p:spPr>
          <a:xfrm>
            <a:off x="411480" y="1691640"/>
            <a:ext cx="3246120" cy="324612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74519"/>
            <a:ext cx="2880360" cy="45720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FFFFFF"/>
                </a:solidFill>
                <a:latin typeface="Arial"/>
              </a:rPr>
              <a:t>WHERE IT STARTED (2017)</a:t>
            </a:r>
          </a:p>
        </p:txBody>
      </p:sp>
      <p:sp>
        <p:nvSpPr>
          <p:cNvPr id="10" name="TextBox 9"/>
          <p:cNvSpPr txBox="1"/>
          <p:nvPr/>
        </p:nvSpPr>
        <p:spPr>
          <a:xfrm>
            <a:off x="612648" y="2395728"/>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200" b="1">
                <a:solidFill>
                  <a:srgbClr val="F47400"/>
                </a:solidFill>
                <a:latin typeface="Arial"/>
              </a:rPr>
              <a:t>▪  </a:t>
            </a:r>
          </a:p>
          <a:p>
            <a:pPr algn="l">
              <a:lnSpc>
                <a:spcPct val="105000"/>
              </a:lnSpc>
              <a:spcBef>
                <a:spcPts val="0"/>
              </a:spcBef>
              <a:spcAft>
                <a:spcPts val="300"/>
              </a:spcAft>
            </a:pPr>
            <a:r>
              <a:rPr sz="1200" b="0">
                <a:solidFill>
                  <a:srgbClr val="FFFFFF"/>
                </a:solidFill>
                <a:latin typeface="Arial"/>
              </a:rPr>
              <a:t>Borno State</a:t>
            </a:r>
          </a:p>
        </p:txBody>
      </p:sp>
      <p:sp>
        <p:nvSpPr>
          <p:cNvPr id="11" name="TextBox 10"/>
          <p:cNvSpPr txBox="1"/>
          <p:nvPr/>
        </p:nvSpPr>
        <p:spPr>
          <a:xfrm>
            <a:off x="612648" y="2724912"/>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200" b="1">
                <a:solidFill>
                  <a:srgbClr val="F47400"/>
                </a:solidFill>
                <a:latin typeface="Arial"/>
              </a:rPr>
              <a:t>▪  </a:t>
            </a:r>
          </a:p>
          <a:p>
            <a:pPr algn="l">
              <a:lnSpc>
                <a:spcPct val="105000"/>
              </a:lnSpc>
              <a:spcBef>
                <a:spcPts val="0"/>
              </a:spcBef>
              <a:spcAft>
                <a:spcPts val="300"/>
              </a:spcAft>
            </a:pPr>
            <a:r>
              <a:rPr sz="1200" b="0">
                <a:solidFill>
                  <a:srgbClr val="FFFFFF"/>
                </a:solidFill>
                <a:latin typeface="Arial"/>
              </a:rPr>
              <a:t>Yobe State</a:t>
            </a:r>
          </a:p>
        </p:txBody>
      </p:sp>
      <p:sp>
        <p:nvSpPr>
          <p:cNvPr id="12" name="Rectangle 11"/>
          <p:cNvSpPr/>
          <p:nvPr/>
        </p:nvSpPr>
        <p:spPr>
          <a:xfrm>
            <a:off x="3886200" y="1691640"/>
            <a:ext cx="3246120" cy="3246120"/>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87368" y="1874519"/>
            <a:ext cx="2880360" cy="45720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NEXT PHASE OF GROWTH</a:t>
            </a:r>
          </a:p>
        </p:txBody>
      </p:sp>
      <p:sp>
        <p:nvSpPr>
          <p:cNvPr id="14" name="TextBox 13"/>
          <p:cNvSpPr txBox="1"/>
          <p:nvPr/>
        </p:nvSpPr>
        <p:spPr>
          <a:xfrm>
            <a:off x="4087368" y="2395728"/>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221D5E"/>
                </a:solidFill>
                <a:latin typeface="Arial"/>
              </a:rPr>
              <a:t>Kebbi</a:t>
            </a:r>
          </a:p>
        </p:txBody>
      </p:sp>
      <p:sp>
        <p:nvSpPr>
          <p:cNvPr id="15" name="TextBox 14"/>
          <p:cNvSpPr txBox="1"/>
          <p:nvPr/>
        </p:nvSpPr>
        <p:spPr>
          <a:xfrm>
            <a:off x="4087368" y="2724912"/>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221D5E"/>
                </a:solidFill>
                <a:latin typeface="Arial"/>
              </a:rPr>
              <a:t>Nasarawa</a:t>
            </a:r>
          </a:p>
        </p:txBody>
      </p:sp>
      <p:sp>
        <p:nvSpPr>
          <p:cNvPr id="16" name="TextBox 15"/>
          <p:cNvSpPr txBox="1"/>
          <p:nvPr/>
        </p:nvSpPr>
        <p:spPr>
          <a:xfrm>
            <a:off x="4087368" y="3054096"/>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221D5E"/>
                </a:solidFill>
                <a:latin typeface="Arial"/>
              </a:rPr>
              <a:t>Jigawa</a:t>
            </a:r>
          </a:p>
        </p:txBody>
      </p:sp>
      <p:sp>
        <p:nvSpPr>
          <p:cNvPr id="17" name="TextBox 16"/>
          <p:cNvSpPr txBox="1"/>
          <p:nvPr/>
        </p:nvSpPr>
        <p:spPr>
          <a:xfrm>
            <a:off x="4087368" y="3383279"/>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221D5E"/>
                </a:solidFill>
                <a:latin typeface="Arial"/>
              </a:rPr>
              <a:t>Bauchi</a:t>
            </a:r>
          </a:p>
        </p:txBody>
      </p:sp>
      <p:sp>
        <p:nvSpPr>
          <p:cNvPr id="18" name="TextBox 17"/>
          <p:cNvSpPr txBox="1"/>
          <p:nvPr/>
        </p:nvSpPr>
        <p:spPr>
          <a:xfrm>
            <a:off x="4087368" y="3712463"/>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221D5E"/>
                </a:solidFill>
                <a:latin typeface="Arial"/>
              </a:rPr>
              <a:t>Adamawa</a:t>
            </a:r>
          </a:p>
        </p:txBody>
      </p:sp>
      <p:sp>
        <p:nvSpPr>
          <p:cNvPr id="19" name="TextBox 18"/>
          <p:cNvSpPr txBox="1"/>
          <p:nvPr/>
        </p:nvSpPr>
        <p:spPr>
          <a:xfrm>
            <a:off x="4087368" y="4041648"/>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221D5E"/>
                </a:solidFill>
                <a:latin typeface="Arial"/>
              </a:rPr>
              <a:t>Kogi</a:t>
            </a:r>
          </a:p>
        </p:txBody>
      </p:sp>
      <p:sp>
        <p:nvSpPr>
          <p:cNvPr id="20" name="TextBox 19"/>
          <p:cNvSpPr txBox="1"/>
          <p:nvPr/>
        </p:nvSpPr>
        <p:spPr>
          <a:xfrm>
            <a:off x="4087368" y="4370832"/>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221D5E"/>
                </a:solidFill>
                <a:latin typeface="Arial"/>
              </a:rPr>
              <a:t>Niger</a:t>
            </a:r>
          </a:p>
        </p:txBody>
      </p:sp>
      <p:sp>
        <p:nvSpPr>
          <p:cNvPr id="21" name="Rectangle 20"/>
          <p:cNvSpPr/>
          <p:nvPr/>
        </p:nvSpPr>
        <p:spPr>
          <a:xfrm>
            <a:off x="7360920" y="1691640"/>
            <a:ext cx="3246120" cy="324612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62088" y="1874519"/>
            <a:ext cx="2880360" cy="45720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MOST RECENT — AS OF 2024</a:t>
            </a:r>
          </a:p>
        </p:txBody>
      </p:sp>
      <p:sp>
        <p:nvSpPr>
          <p:cNvPr id="23" name="TextBox 22"/>
          <p:cNvSpPr txBox="1"/>
          <p:nvPr/>
        </p:nvSpPr>
        <p:spPr>
          <a:xfrm>
            <a:off x="7562088" y="2395728"/>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1A1A1A"/>
                </a:solidFill>
                <a:latin typeface="Arial"/>
              </a:rPr>
              <a:t>Oyo</a:t>
            </a:r>
          </a:p>
        </p:txBody>
      </p:sp>
      <p:sp>
        <p:nvSpPr>
          <p:cNvPr id="24" name="TextBox 23"/>
          <p:cNvSpPr txBox="1"/>
          <p:nvPr/>
        </p:nvSpPr>
        <p:spPr>
          <a:xfrm>
            <a:off x="7562088" y="2724912"/>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1A1A1A"/>
                </a:solidFill>
                <a:latin typeface="Arial"/>
              </a:rPr>
              <a:t>Lagos</a:t>
            </a:r>
          </a:p>
        </p:txBody>
      </p:sp>
      <p:sp>
        <p:nvSpPr>
          <p:cNvPr id="25" name="TextBox 24"/>
          <p:cNvSpPr txBox="1"/>
          <p:nvPr/>
        </p:nvSpPr>
        <p:spPr>
          <a:xfrm>
            <a:off x="7562088" y="3054096"/>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1A1A1A"/>
                </a:solidFill>
                <a:latin typeface="Arial"/>
              </a:rPr>
              <a:t>Kano</a:t>
            </a:r>
          </a:p>
        </p:txBody>
      </p:sp>
      <p:sp>
        <p:nvSpPr>
          <p:cNvPr id="26" name="TextBox 25"/>
          <p:cNvSpPr txBox="1"/>
          <p:nvPr/>
        </p:nvSpPr>
        <p:spPr>
          <a:xfrm>
            <a:off x="7562088" y="3383279"/>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1A1A1A"/>
                </a:solidFill>
                <a:latin typeface="Arial"/>
              </a:rPr>
              <a:t>Enugu</a:t>
            </a:r>
          </a:p>
        </p:txBody>
      </p:sp>
      <p:sp>
        <p:nvSpPr>
          <p:cNvPr id="27" name="TextBox 26"/>
          <p:cNvSpPr txBox="1"/>
          <p:nvPr/>
        </p:nvSpPr>
        <p:spPr>
          <a:xfrm>
            <a:off x="7562088" y="3712463"/>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1A1A1A"/>
                </a:solidFill>
                <a:latin typeface="Arial"/>
              </a:rPr>
              <a:t>Sokoto</a:t>
            </a:r>
          </a:p>
        </p:txBody>
      </p:sp>
      <p:sp>
        <p:nvSpPr>
          <p:cNvPr id="28" name="TextBox 27"/>
          <p:cNvSpPr txBox="1"/>
          <p:nvPr/>
        </p:nvSpPr>
        <p:spPr>
          <a:xfrm>
            <a:off x="7562088" y="4041648"/>
            <a:ext cx="2880360" cy="292608"/>
          </a:xfrm>
          <a:prstGeom prst="rect">
            <a:avLst/>
          </a:prstGeom>
          <a:noFill/>
        </p:spPr>
        <p:txBody>
          <a:bodyPr wrap="square" anchor="t" lIns="0" rIns="0" tIns="0" bIns="0">
            <a:spAutoFit/>
          </a:bodyPr>
          <a:lstStyle/>
          <a:p>
            <a:pPr algn="l">
              <a:lnSpc>
                <a:spcPct val="105000"/>
              </a:lnSpc>
              <a:spcBef>
                <a:spcPts val="0"/>
              </a:spcBef>
              <a:spcAft>
                <a:spcPts val="300"/>
              </a:spcAft>
            </a:pPr>
            <a:r>
              <a:rPr sz="1050" b="1">
                <a:solidFill>
                  <a:srgbClr val="F47400"/>
                </a:solidFill>
                <a:latin typeface="Arial"/>
              </a:rPr>
              <a:t>▪  </a:t>
            </a:r>
          </a:p>
          <a:p>
            <a:pPr algn="l">
              <a:lnSpc>
                <a:spcPct val="105000"/>
              </a:lnSpc>
              <a:spcBef>
                <a:spcPts val="0"/>
              </a:spcBef>
              <a:spcAft>
                <a:spcPts val="300"/>
              </a:spcAft>
            </a:pPr>
            <a:r>
              <a:rPr sz="1050" b="0">
                <a:solidFill>
                  <a:srgbClr val="1A1A1A"/>
                </a:solidFill>
                <a:latin typeface="Arial"/>
              </a:rPr>
              <a:t>Katsina</a:t>
            </a:r>
          </a:p>
        </p:txBody>
      </p:sp>
      <p:sp>
        <p:nvSpPr>
          <p:cNvPr id="29" name="Rectangle 28"/>
          <p:cNvSpPr/>
          <p:nvPr/>
        </p:nvSpPr>
        <p:spPr>
          <a:xfrm>
            <a:off x="411480" y="5257800"/>
            <a:ext cx="10149840" cy="123444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440680"/>
            <a:ext cx="9601200" cy="914400"/>
          </a:xfrm>
          <a:prstGeom prst="rect">
            <a:avLst/>
          </a:prstGeom>
          <a:noFill/>
        </p:spPr>
        <p:txBody>
          <a:bodyPr wrap="square" anchor="t" lIns="0" rIns="0" tIns="0" bIns="0">
            <a:spAutoFit/>
          </a:bodyPr>
          <a:lstStyle/>
          <a:p>
            <a:pPr algn="l">
              <a:lnSpc>
                <a:spcPct val="110000"/>
              </a:lnSpc>
              <a:spcBef>
                <a:spcPts val="0"/>
              </a:spcBef>
              <a:spcAft>
                <a:spcPts val="200"/>
              </a:spcAft>
            </a:pPr>
            <a:r>
              <a:rPr sz="1300" b="1">
                <a:solidFill>
                  <a:srgbClr val="221D5E"/>
                </a:solidFill>
                <a:latin typeface="Arial"/>
              </a:rPr>
              <a:t>14 states and counting.</a:t>
            </a:r>
          </a:p>
          <a:p>
            <a:pPr algn="l">
              <a:lnSpc>
                <a:spcPct val="110000"/>
              </a:lnSpc>
              <a:spcBef>
                <a:spcPts val="200"/>
              </a:spcBef>
              <a:spcAft>
                <a:spcPts val="200"/>
              </a:spcAft>
            </a:pPr>
            <a:r>
              <a:rPr sz="1150" b="0">
                <a:solidFill>
                  <a:srgbClr val="1A1A1A"/>
                </a:solidFill>
                <a:latin typeface="Arial"/>
              </a:rPr>
              <a:t>In 2024, CARE works in over 118 countries and reaches more than 53 million people through 1,450 projects. In Nigeria, since 2017, CARE has reached more than 3,126,834 people across 14 states.</a:t>
            </a:r>
          </a:p>
        </p:txBody>
      </p:sp>
      <p:sp>
        <p:nvSpPr>
          <p:cNvPr id="31" name="Rectangle 30"/>
          <p:cNvSpPr/>
          <p:nvPr/>
        </p:nvSpPr>
        <p:spPr>
          <a:xfrm>
            <a:off x="411480" y="6720840"/>
            <a:ext cx="10149840" cy="86868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6858000"/>
            <a:ext cx="9601200" cy="640080"/>
          </a:xfrm>
          <a:prstGeom prst="rect">
            <a:avLst/>
          </a:prstGeom>
          <a:noFill/>
        </p:spPr>
        <p:txBody>
          <a:bodyPr wrap="square" anchor="ctr" lIns="0" rIns="0" tIns="0" bIns="0">
            <a:spAutoFit/>
          </a:bodyPr>
          <a:lstStyle/>
          <a:p>
            <a:pPr algn="l">
              <a:lnSpc>
                <a:spcPct val="110000"/>
              </a:lnSpc>
              <a:spcBef>
                <a:spcPts val="0"/>
              </a:spcBef>
              <a:spcAft>
                <a:spcPts val="300"/>
              </a:spcAft>
            </a:pPr>
            <a:r>
              <a:rPr sz="1150" b="0">
                <a:solidFill>
                  <a:srgbClr val="FFFFFF"/>
                </a:solidFill>
                <a:latin typeface="Arial"/>
              </a:rPr>
              <a:t>CARE supports longer-term efforts that strengthen resilience, improve social service systems, and influence federal and state policies.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Where CARE Works in Nigeria</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457200"/>
          </a:xfrm>
          <a:prstGeom prst="rect">
            <a:avLst/>
          </a:prstGeom>
          <a:noFill/>
        </p:spPr>
        <p:txBody>
          <a:bodyPr wrap="square" anchor="t" lIns="0" rIns="0" tIns="0" bIns="0">
            <a:spAutoFit/>
          </a:bodyPr>
          <a:lstStyle/>
          <a:p>
            <a:pPr algn="l">
              <a:lnSpc>
                <a:spcPct val="105000"/>
              </a:lnSpc>
              <a:spcBef>
                <a:spcPts val="0"/>
              </a:spcBef>
              <a:spcAft>
                <a:spcPts val="300"/>
              </a:spcAft>
            </a:pPr>
            <a:r>
              <a:rPr sz="1300" b="0">
                <a:solidFill>
                  <a:srgbClr val="1A1A1A"/>
                </a:solidFill>
                <a:latin typeface="Arial"/>
              </a:rPr>
              <a:t>CARE's presence across Nigeria — 14 states and the Country Office in the FCT</a:t>
            </a:r>
          </a:p>
        </p:txBody>
      </p:sp>
      <p:sp>
        <p:nvSpPr>
          <p:cNvPr id="8" name="Rectangle 7"/>
          <p:cNvSpPr/>
          <p:nvPr/>
        </p:nvSpPr>
        <p:spPr>
          <a:xfrm>
            <a:off x="411480" y="1600200"/>
            <a:ext cx="6583680" cy="4892040"/>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re_presence_map.png"/>
          <p:cNvPicPr>
            <a:picLocks noChangeAspect="1"/>
          </p:cNvPicPr>
          <p:nvPr/>
        </p:nvPicPr>
        <p:blipFill>
          <a:blip r:embed="rId2"/>
          <a:stretch>
            <a:fillRect/>
          </a:stretch>
        </p:blipFill>
        <p:spPr>
          <a:xfrm>
            <a:off x="548640" y="1755648"/>
            <a:ext cx="6309360" cy="4641434"/>
          </a:xfrm>
          <a:prstGeom prst="rect">
            <a:avLst/>
          </a:prstGeom>
        </p:spPr>
      </p:pic>
      <p:sp>
        <p:nvSpPr>
          <p:cNvPr id="10" name="Rectangle 9"/>
          <p:cNvSpPr/>
          <p:nvPr/>
        </p:nvSpPr>
        <p:spPr>
          <a:xfrm>
            <a:off x="7269480" y="1600200"/>
            <a:ext cx="3291840" cy="14630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1783080"/>
            <a:ext cx="2971800" cy="1143000"/>
          </a:xfrm>
          <a:prstGeom prst="rect">
            <a:avLst/>
          </a:prstGeom>
          <a:noFill/>
        </p:spPr>
        <p:txBody>
          <a:bodyPr wrap="square" anchor="t" lIns="0" rIns="0" tIns="0" bIns="0">
            <a:spAutoFit/>
          </a:bodyPr>
          <a:lstStyle/>
          <a:p>
            <a:pPr algn="l">
              <a:lnSpc>
                <a:spcPct val="110000"/>
              </a:lnSpc>
              <a:spcBef>
                <a:spcPts val="0"/>
              </a:spcBef>
              <a:spcAft>
                <a:spcPts val="200"/>
              </a:spcAft>
            </a:pPr>
            <a:r>
              <a:rPr sz="1050" b="1">
                <a:solidFill>
                  <a:srgbClr val="F4B122"/>
                </a:solidFill>
                <a:latin typeface="Arial"/>
              </a:rPr>
              <a:t>IN NIGERIA, SINCE 2017</a:t>
            </a:r>
          </a:p>
          <a:p>
            <a:pPr algn="l">
              <a:lnSpc>
                <a:spcPct val="110000"/>
              </a:lnSpc>
              <a:spcBef>
                <a:spcPts val="300"/>
              </a:spcBef>
              <a:spcAft>
                <a:spcPts val="200"/>
              </a:spcAft>
            </a:pPr>
            <a:r>
              <a:rPr sz="1100" b="0">
                <a:solidFill>
                  <a:srgbClr val="FFFFFF"/>
                </a:solidFill>
                <a:latin typeface="Arial"/>
              </a:rPr>
              <a:t>CARE has reached more than 3,126,834 people across 14 states.</a:t>
            </a:r>
          </a:p>
        </p:txBody>
      </p:sp>
      <p:sp>
        <p:nvSpPr>
          <p:cNvPr id="12" name="Rectangle 11"/>
          <p:cNvSpPr/>
          <p:nvPr/>
        </p:nvSpPr>
        <p:spPr>
          <a:xfrm>
            <a:off x="7269480" y="3246120"/>
            <a:ext cx="3291840" cy="146304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3429000"/>
            <a:ext cx="2971800" cy="1143000"/>
          </a:xfrm>
          <a:prstGeom prst="rect">
            <a:avLst/>
          </a:prstGeom>
          <a:noFill/>
        </p:spPr>
        <p:txBody>
          <a:bodyPr wrap="square" anchor="t" lIns="0" rIns="0" tIns="0" bIns="0">
            <a:spAutoFit/>
          </a:bodyPr>
          <a:lstStyle/>
          <a:p>
            <a:pPr algn="l">
              <a:lnSpc>
                <a:spcPct val="110000"/>
              </a:lnSpc>
              <a:spcBef>
                <a:spcPts val="0"/>
              </a:spcBef>
              <a:spcAft>
                <a:spcPts val="200"/>
              </a:spcAft>
            </a:pPr>
            <a:r>
              <a:rPr sz="1050" b="1">
                <a:solidFill>
                  <a:srgbClr val="221D5E"/>
                </a:solidFill>
                <a:latin typeface="Arial"/>
              </a:rPr>
              <a:t>GLOBALLY, IN 2024</a:t>
            </a:r>
          </a:p>
          <a:p>
            <a:pPr algn="l">
              <a:lnSpc>
                <a:spcPct val="110000"/>
              </a:lnSpc>
              <a:spcBef>
                <a:spcPts val="300"/>
              </a:spcBef>
              <a:spcAft>
                <a:spcPts val="200"/>
              </a:spcAft>
            </a:pPr>
            <a:r>
              <a:rPr sz="1100" b="0">
                <a:solidFill>
                  <a:srgbClr val="1A1A1A"/>
                </a:solidFill>
                <a:latin typeface="Arial"/>
              </a:rPr>
              <a:t>CARE works in over 118 countries and reaches more than 53 million people through 1,450 projects.</a:t>
            </a:r>
          </a:p>
        </p:txBody>
      </p:sp>
      <p:sp>
        <p:nvSpPr>
          <p:cNvPr id="14" name="Rectangle 13"/>
          <p:cNvSpPr/>
          <p:nvPr/>
        </p:nvSpPr>
        <p:spPr>
          <a:xfrm>
            <a:off x="7269480" y="4892040"/>
            <a:ext cx="3291840" cy="160020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5074920"/>
            <a:ext cx="2971800" cy="1280160"/>
          </a:xfrm>
          <a:prstGeom prst="rect">
            <a:avLst/>
          </a:prstGeom>
          <a:noFill/>
        </p:spPr>
        <p:txBody>
          <a:bodyPr wrap="square" anchor="t" lIns="0" rIns="0" tIns="0" bIns="0">
            <a:spAutoFit/>
          </a:bodyPr>
          <a:lstStyle/>
          <a:p>
            <a:pPr algn="l">
              <a:lnSpc>
                <a:spcPct val="110000"/>
              </a:lnSpc>
              <a:spcBef>
                <a:spcPts val="0"/>
              </a:spcBef>
              <a:spcAft>
                <a:spcPts val="200"/>
              </a:spcAft>
            </a:pPr>
            <a:r>
              <a:rPr sz="1050" b="1">
                <a:solidFill>
                  <a:srgbClr val="221D5E"/>
                </a:solidFill>
                <a:latin typeface="Arial"/>
              </a:rPr>
              <a:t>LEGEND</a:t>
            </a:r>
          </a:p>
          <a:p>
            <a:pPr algn="l">
              <a:lnSpc>
                <a:spcPct val="110000"/>
              </a:lnSpc>
              <a:spcBef>
                <a:spcPts val="300"/>
              </a:spcBef>
              <a:spcAft>
                <a:spcPts val="200"/>
              </a:spcAft>
            </a:pPr>
            <a:r>
              <a:rPr sz="1050" b="0">
                <a:solidFill>
                  <a:srgbClr val="1A1A1A"/>
                </a:solidFill>
                <a:latin typeface="Arial"/>
              </a:rPr>
              <a:t>🟨  Yellow — CARE's Presence</a:t>
            </a:r>
          </a:p>
          <a:p>
            <a:pPr algn="l">
              <a:lnSpc>
                <a:spcPct val="110000"/>
              </a:lnSpc>
              <a:spcBef>
                <a:spcPts val="200"/>
              </a:spcBef>
              <a:spcAft>
                <a:spcPts val="200"/>
              </a:spcAft>
            </a:pPr>
            <a:r>
              <a:rPr sz="1050" b="0">
                <a:solidFill>
                  <a:srgbClr val="1A1A1A"/>
                </a:solidFill>
                <a:latin typeface="Arial"/>
              </a:rPr>
              <a:t>🟥  Red (FCT) — CARE's Country Office</a:t>
            </a:r>
          </a:p>
        </p:txBody>
      </p:sp>
      <p:sp>
        <p:nvSpPr>
          <p:cNvPr id="16" name="TextBox 15"/>
          <p:cNvSpPr txBox="1"/>
          <p:nvPr/>
        </p:nvSpPr>
        <p:spPr>
          <a:xfrm>
            <a:off x="411480" y="6720840"/>
            <a:ext cx="8686800" cy="320040"/>
          </a:xfrm>
          <a:prstGeom prst="rect">
            <a:avLst/>
          </a:prstGeom>
          <a:noFill/>
        </p:spPr>
        <p:txBody>
          <a:bodyPr wrap="square" anchor="t" lIns="0" rIns="0" tIns="0" bIns="0">
            <a:spAutoFit/>
          </a:bodyPr>
          <a:lstStyle/>
          <a:p>
            <a:pPr algn="l">
              <a:lnSpc>
                <a:spcPct val="105000"/>
              </a:lnSpc>
              <a:spcBef>
                <a:spcPts val="0"/>
              </a:spcBef>
              <a:spcAft>
                <a:spcPts val="300"/>
              </a:spcAft>
            </a:pPr>
            <a:r>
              <a:rPr sz="700" b="0">
                <a:solidFill>
                  <a:srgbClr val="D9531E"/>
                </a:solidFill>
                <a:latin typeface="Arial"/>
              </a:rPr>
              <a:t>Map: CARE Nigeria's Presence — carenigeria.org/history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What CARE Nigeria Does</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777240"/>
          </a:xfrm>
          <a:prstGeom prst="rect">
            <a:avLst/>
          </a:prstGeom>
          <a:noFill/>
        </p:spPr>
        <p:txBody>
          <a:bodyPr wrap="square" anchor="t" lIns="0" rIns="0" tIns="0" bIns="0">
            <a:spAutoFit/>
          </a:bodyPr>
          <a:lstStyle/>
          <a:p>
            <a:pPr algn="l">
              <a:lnSpc>
                <a:spcPct val="112000"/>
              </a:lnSpc>
              <a:spcBef>
                <a:spcPts val="0"/>
              </a:spcBef>
              <a:spcAft>
                <a:spcPts val="300"/>
              </a:spcAft>
            </a:pPr>
            <a:r>
              <a:rPr sz="1300" b="0">
                <a:solidFill>
                  <a:srgbClr val="1A1A1A"/>
                </a:solidFill>
                <a:latin typeface="Arial"/>
              </a:rPr>
              <a:t>In line with CARE's localization agenda, CARE Nigeria is working with local women-led organizations to build capacities. Our work in Nigeria focuses on:</a:t>
            </a:r>
          </a:p>
        </p:txBody>
      </p:sp>
      <p:sp>
        <p:nvSpPr>
          <p:cNvPr id="8" name="Rounded Rectangle 7"/>
          <p:cNvSpPr/>
          <p:nvPr/>
        </p:nvSpPr>
        <p:spPr>
          <a:xfrm>
            <a:off x="411480" y="2057400"/>
            <a:ext cx="2423160" cy="3063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2286000"/>
            <a:ext cx="2103120" cy="1051560"/>
          </a:xfrm>
          <a:prstGeom prst="rect">
            <a:avLst/>
          </a:prstGeom>
          <a:noFill/>
        </p:spPr>
        <p:txBody>
          <a:bodyPr wrap="square" anchor="t" lIns="0" rIns="0" tIns="0" bIns="0">
            <a:spAutoFit/>
          </a:bodyPr>
          <a:lstStyle/>
          <a:p>
            <a:pPr algn="ctr">
              <a:lnSpc>
                <a:spcPct val="105000"/>
              </a:lnSpc>
              <a:spcBef>
                <a:spcPts val="0"/>
              </a:spcBef>
              <a:spcAft>
                <a:spcPts val="300"/>
              </a:spcAft>
            </a:pPr>
            <a:r>
              <a:rPr sz="1150" b="1">
                <a:solidFill>
                  <a:srgbClr val="221D5E"/>
                </a:solidFill>
                <a:latin typeface="Arial"/>
              </a:rPr>
              <a:t>Humanitarian Preparedness &amp; Response</a:t>
            </a:r>
          </a:p>
        </p:txBody>
      </p:sp>
      <p:sp>
        <p:nvSpPr>
          <p:cNvPr id="10" name="TextBox 9"/>
          <p:cNvSpPr txBox="1"/>
          <p:nvPr/>
        </p:nvSpPr>
        <p:spPr>
          <a:xfrm>
            <a:off x="576072" y="3429000"/>
            <a:ext cx="2103120" cy="155448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Saving lives and supporting communities affected by conflict, displacement and crisis.</a:t>
            </a:r>
          </a:p>
        </p:txBody>
      </p:sp>
      <p:sp>
        <p:nvSpPr>
          <p:cNvPr id="11" name="Rounded Rectangle 10"/>
          <p:cNvSpPr/>
          <p:nvPr/>
        </p:nvSpPr>
        <p:spPr>
          <a:xfrm>
            <a:off x="3017520" y="2057400"/>
            <a:ext cx="2423160" cy="3063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82112" y="2286000"/>
            <a:ext cx="2103120" cy="1051560"/>
          </a:xfrm>
          <a:prstGeom prst="rect">
            <a:avLst/>
          </a:prstGeom>
          <a:noFill/>
        </p:spPr>
        <p:txBody>
          <a:bodyPr wrap="square" anchor="t" lIns="0" rIns="0" tIns="0" bIns="0">
            <a:spAutoFit/>
          </a:bodyPr>
          <a:lstStyle/>
          <a:p>
            <a:pPr algn="ctr">
              <a:lnSpc>
                <a:spcPct val="105000"/>
              </a:lnSpc>
              <a:spcBef>
                <a:spcPts val="0"/>
              </a:spcBef>
              <a:spcAft>
                <a:spcPts val="300"/>
              </a:spcAft>
            </a:pPr>
            <a:r>
              <a:rPr sz="1150" b="1">
                <a:solidFill>
                  <a:srgbClr val="221D5E"/>
                </a:solidFill>
                <a:latin typeface="Arial"/>
              </a:rPr>
              <a:t>Food Systems &amp; Livelihoods</a:t>
            </a:r>
          </a:p>
        </p:txBody>
      </p:sp>
      <p:sp>
        <p:nvSpPr>
          <p:cNvPr id="13" name="TextBox 12"/>
          <p:cNvSpPr txBox="1"/>
          <p:nvPr/>
        </p:nvSpPr>
        <p:spPr>
          <a:xfrm>
            <a:off x="3182112" y="3429000"/>
            <a:ext cx="2103120" cy="155448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Strengthening food security and household livelihoods so families can recover and thrive.</a:t>
            </a:r>
          </a:p>
        </p:txBody>
      </p:sp>
      <p:sp>
        <p:nvSpPr>
          <p:cNvPr id="14" name="Rounded Rectangle 13"/>
          <p:cNvSpPr/>
          <p:nvPr/>
        </p:nvSpPr>
        <p:spPr>
          <a:xfrm>
            <a:off x="5623560" y="2057400"/>
            <a:ext cx="2423160" cy="3063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88152" y="2286000"/>
            <a:ext cx="2103120" cy="1051560"/>
          </a:xfrm>
          <a:prstGeom prst="rect">
            <a:avLst/>
          </a:prstGeom>
          <a:noFill/>
        </p:spPr>
        <p:txBody>
          <a:bodyPr wrap="square" anchor="t" lIns="0" rIns="0" tIns="0" bIns="0">
            <a:spAutoFit/>
          </a:bodyPr>
          <a:lstStyle/>
          <a:p>
            <a:pPr algn="ctr">
              <a:lnSpc>
                <a:spcPct val="105000"/>
              </a:lnSpc>
              <a:spcBef>
                <a:spcPts val="0"/>
              </a:spcBef>
              <a:spcAft>
                <a:spcPts val="300"/>
              </a:spcAft>
            </a:pPr>
            <a:r>
              <a:rPr sz="1150" b="1">
                <a:solidFill>
                  <a:srgbClr val="221D5E"/>
                </a:solidFill>
                <a:latin typeface="Arial"/>
              </a:rPr>
              <a:t>Justice for Women and Girls</a:t>
            </a:r>
          </a:p>
        </p:txBody>
      </p:sp>
      <p:sp>
        <p:nvSpPr>
          <p:cNvPr id="16" name="TextBox 15"/>
          <p:cNvSpPr txBox="1"/>
          <p:nvPr/>
        </p:nvSpPr>
        <p:spPr>
          <a:xfrm>
            <a:off x="5788152" y="3429000"/>
            <a:ext cx="2103120" cy="155448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Advancing gender equality, preventing violence against women and girls, supporting survivors.</a:t>
            </a:r>
          </a:p>
        </p:txBody>
      </p:sp>
      <p:sp>
        <p:nvSpPr>
          <p:cNvPr id="17" name="Rounded Rectangle 16"/>
          <p:cNvSpPr/>
          <p:nvPr/>
        </p:nvSpPr>
        <p:spPr>
          <a:xfrm>
            <a:off x="8229600" y="2057400"/>
            <a:ext cx="2423160" cy="3063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2" y="2286000"/>
            <a:ext cx="2103120" cy="1051560"/>
          </a:xfrm>
          <a:prstGeom prst="rect">
            <a:avLst/>
          </a:prstGeom>
          <a:noFill/>
        </p:spPr>
        <p:txBody>
          <a:bodyPr wrap="square" anchor="t" lIns="0" rIns="0" tIns="0" bIns="0">
            <a:spAutoFit/>
          </a:bodyPr>
          <a:lstStyle/>
          <a:p>
            <a:pPr algn="ctr">
              <a:lnSpc>
                <a:spcPct val="105000"/>
              </a:lnSpc>
              <a:spcBef>
                <a:spcPts val="0"/>
              </a:spcBef>
              <a:spcAft>
                <a:spcPts val="300"/>
              </a:spcAft>
            </a:pPr>
            <a:r>
              <a:rPr sz="1150" b="1">
                <a:solidFill>
                  <a:srgbClr val="221D5E"/>
                </a:solidFill>
                <a:latin typeface="Arial"/>
              </a:rPr>
              <a:t>Right to Health &amp; Nutrition</a:t>
            </a:r>
          </a:p>
        </p:txBody>
      </p:sp>
      <p:sp>
        <p:nvSpPr>
          <p:cNvPr id="19" name="TextBox 18"/>
          <p:cNvSpPr txBox="1"/>
          <p:nvPr/>
        </p:nvSpPr>
        <p:spPr>
          <a:xfrm>
            <a:off x="8394192" y="3429000"/>
            <a:ext cx="2103120" cy="1554480"/>
          </a:xfrm>
          <a:prstGeom prst="rect">
            <a:avLst/>
          </a:prstGeom>
          <a:noFill/>
        </p:spPr>
        <p:txBody>
          <a:bodyPr wrap="square" anchor="t" lIns="0" rIns="0" tIns="0" bIns="0">
            <a:spAutoFit/>
          </a:bodyPr>
          <a:lstStyle/>
          <a:p>
            <a:pPr algn="ctr">
              <a:lnSpc>
                <a:spcPct val="112000"/>
              </a:lnSpc>
              <a:spcBef>
                <a:spcPts val="0"/>
              </a:spcBef>
              <a:spcAft>
                <a:spcPts val="300"/>
              </a:spcAft>
            </a:pPr>
            <a:r>
              <a:rPr sz="950" b="0">
                <a:solidFill>
                  <a:srgbClr val="221D5E"/>
                </a:solidFill>
                <a:latin typeface="Arial"/>
              </a:rPr>
              <a:t>Reproductive health, rights, and nutrition programs that keep families healthy.</a:t>
            </a:r>
          </a:p>
        </p:txBody>
      </p:sp>
      <p:sp>
        <p:nvSpPr>
          <p:cNvPr id="20" name="Rectangle 19"/>
          <p:cNvSpPr/>
          <p:nvPr/>
        </p:nvSpPr>
        <p:spPr>
          <a:xfrm>
            <a:off x="411480" y="5440680"/>
            <a:ext cx="10149840" cy="141732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23560"/>
            <a:ext cx="9601200" cy="1097280"/>
          </a:xfrm>
          <a:prstGeom prst="rect">
            <a:avLst/>
          </a:prstGeom>
          <a:noFill/>
        </p:spPr>
        <p:txBody>
          <a:bodyPr wrap="square" anchor="ctr" lIns="0" rIns="0" tIns="0" bIns="0">
            <a:spAutoFit/>
          </a:bodyPr>
          <a:lstStyle/>
          <a:p>
            <a:pPr algn="l">
              <a:lnSpc>
                <a:spcPct val="112000"/>
              </a:lnSpc>
              <a:spcBef>
                <a:spcPts val="0"/>
              </a:spcBef>
              <a:spcAft>
                <a:spcPts val="300"/>
              </a:spcAft>
            </a:pPr>
            <a:r>
              <a:rPr sz="1200" b="0">
                <a:solidFill>
                  <a:srgbClr val="1A1A1A"/>
                </a:solidFill>
                <a:latin typeface="Arial"/>
              </a:rPr>
              <a:t>Since 2017, these priorities have reached over 3.1 million people with lifesaving assistance. CARE Nigeria piloted the Community of CARE and launched a national Advisory Committee to strengthen the quality, scale and impact of its programs.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Our Impact</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914400"/>
          </a:xfrm>
          <a:prstGeom prst="rect">
            <a:avLst/>
          </a:prstGeom>
          <a:noFill/>
        </p:spPr>
        <p:txBody>
          <a:bodyPr wrap="square" anchor="t" lIns="0" rIns="0" tIns="0" bIns="0">
            <a:spAutoFit/>
          </a:bodyPr>
          <a:lstStyle/>
          <a:p>
            <a:pPr algn="l">
              <a:lnSpc>
                <a:spcPct val="112000"/>
              </a:lnSpc>
              <a:spcBef>
                <a:spcPts val="0"/>
              </a:spcBef>
              <a:spcAft>
                <a:spcPts val="300"/>
              </a:spcAft>
            </a:pPr>
            <a:r>
              <a:rPr sz="1400" b="0">
                <a:solidFill>
                  <a:srgbClr val="1A1A1A"/>
                </a:solidFill>
                <a:latin typeface="Arial"/>
              </a:rPr>
              <a:t>CARE works in Nigeria, contributing to saving lives, fighting poverty, and promoting social justice.</a:t>
            </a:r>
          </a:p>
        </p:txBody>
      </p:sp>
      <p:sp>
        <p:nvSpPr>
          <p:cNvPr id="8" name="Rectangle 7"/>
          <p:cNvSpPr/>
          <p:nvPr/>
        </p:nvSpPr>
        <p:spPr>
          <a:xfrm>
            <a:off x="411480" y="2286000"/>
            <a:ext cx="3291840" cy="306324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2788920" cy="2286000"/>
          </a:xfrm>
          <a:prstGeom prst="rect">
            <a:avLst/>
          </a:prstGeom>
          <a:noFill/>
        </p:spPr>
        <p:txBody>
          <a:bodyPr wrap="square" anchor="t" lIns="0" rIns="0" tIns="0" bIns="0">
            <a:spAutoFit/>
          </a:bodyPr>
          <a:lstStyle/>
          <a:p>
            <a:pPr algn="ctr">
              <a:lnSpc>
                <a:spcPct val="105000"/>
              </a:lnSpc>
              <a:spcBef>
                <a:spcPts val="0"/>
              </a:spcBef>
              <a:spcAft>
                <a:spcPts val="100"/>
              </a:spcAft>
            </a:pPr>
            <a:r>
              <a:rPr sz="3400" b="1">
                <a:solidFill>
                  <a:srgbClr val="F47400"/>
                </a:solidFill>
                <a:latin typeface="Arial"/>
              </a:rPr>
              <a:t>3.1M</a:t>
            </a:r>
          </a:p>
          <a:p>
            <a:pPr algn="ctr">
              <a:lnSpc>
                <a:spcPct val="105000"/>
              </a:lnSpc>
              <a:spcBef>
                <a:spcPts val="200"/>
              </a:spcBef>
              <a:spcAft>
                <a:spcPts val="100"/>
              </a:spcAft>
            </a:pPr>
            <a:r>
              <a:rPr sz="1300" b="1">
                <a:solidFill>
                  <a:srgbClr val="1A1A1A"/>
                </a:solidFill>
                <a:latin typeface="Arial"/>
              </a:rPr>
              <a:t>PEOPLE REACHED</a:t>
            </a:r>
          </a:p>
          <a:p>
            <a:pPr algn="ctr">
              <a:lnSpc>
                <a:spcPct val="105000"/>
              </a:lnSpc>
              <a:spcBef>
                <a:spcPts val="0"/>
              </a:spcBef>
              <a:spcAft>
                <a:spcPts val="100"/>
              </a:spcAft>
            </a:pPr>
            <a:r>
              <a:rPr sz="1300" b="1">
                <a:solidFill>
                  <a:srgbClr val="1A1A1A"/>
                </a:solidFill>
                <a:latin typeface="Arial"/>
              </a:rPr>
              <a:t>DIRECTLY</a:t>
            </a:r>
          </a:p>
          <a:p>
            <a:pPr algn="ctr">
              <a:lnSpc>
                <a:spcPct val="105000"/>
              </a:lnSpc>
              <a:spcBef>
                <a:spcPts val="600"/>
              </a:spcBef>
              <a:spcAft>
                <a:spcPts val="100"/>
              </a:spcAft>
            </a:pPr>
            <a:r>
              <a:rPr sz="1100" b="0">
                <a:solidFill>
                  <a:srgbClr val="1A1A1A"/>
                </a:solidFill>
                <a:latin typeface="Arial"/>
              </a:rPr>
              <a:t>in Nigeria since 2017</a:t>
            </a:r>
          </a:p>
        </p:txBody>
      </p:sp>
      <p:sp>
        <p:nvSpPr>
          <p:cNvPr id="10" name="Rectangle 9"/>
          <p:cNvSpPr/>
          <p:nvPr/>
        </p:nvSpPr>
        <p:spPr>
          <a:xfrm>
            <a:off x="3977639" y="2286000"/>
            <a:ext cx="2880360" cy="3063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2697480"/>
            <a:ext cx="2377440" cy="2286000"/>
          </a:xfrm>
          <a:prstGeom prst="rect">
            <a:avLst/>
          </a:prstGeom>
          <a:noFill/>
        </p:spPr>
        <p:txBody>
          <a:bodyPr wrap="square" anchor="t" lIns="0" rIns="0" tIns="0" bIns="0">
            <a:spAutoFit/>
          </a:bodyPr>
          <a:lstStyle/>
          <a:p>
            <a:pPr algn="ctr">
              <a:lnSpc>
                <a:spcPct val="105000"/>
              </a:lnSpc>
              <a:spcBef>
                <a:spcPts val="0"/>
              </a:spcBef>
              <a:spcAft>
                <a:spcPts val="100"/>
              </a:spcAft>
            </a:pPr>
            <a:r>
              <a:rPr sz="4000" b="1">
                <a:solidFill>
                  <a:srgbClr val="F4B122"/>
                </a:solidFill>
                <a:latin typeface="Arial"/>
              </a:rPr>
              <a:t>67</a:t>
            </a:r>
          </a:p>
          <a:p>
            <a:pPr algn="ctr">
              <a:lnSpc>
                <a:spcPct val="105000"/>
              </a:lnSpc>
              <a:spcBef>
                <a:spcPts val="200"/>
              </a:spcBef>
              <a:spcAft>
                <a:spcPts val="100"/>
              </a:spcAft>
            </a:pPr>
            <a:r>
              <a:rPr sz="1400" b="1">
                <a:solidFill>
                  <a:srgbClr val="FFFFFF"/>
                </a:solidFill>
                <a:latin typeface="Arial"/>
              </a:rPr>
              <a:t>PROJECTS</a:t>
            </a:r>
          </a:p>
          <a:p>
            <a:pPr algn="ctr">
              <a:lnSpc>
                <a:spcPct val="105000"/>
              </a:lnSpc>
              <a:spcBef>
                <a:spcPts val="600"/>
              </a:spcBef>
              <a:spcAft>
                <a:spcPts val="100"/>
              </a:spcAft>
            </a:pPr>
            <a:r>
              <a:rPr sz="1100" b="0">
                <a:solidFill>
                  <a:srgbClr val="FFFFFF"/>
                </a:solidFill>
                <a:latin typeface="Arial"/>
              </a:rPr>
              <a:t>implemented across Nigeria</a:t>
            </a:r>
          </a:p>
        </p:txBody>
      </p:sp>
      <p:sp>
        <p:nvSpPr>
          <p:cNvPr id="12" name="Rectangle 11"/>
          <p:cNvSpPr/>
          <p:nvPr/>
        </p:nvSpPr>
        <p:spPr>
          <a:xfrm>
            <a:off x="7132320" y="2286000"/>
            <a:ext cx="3429000" cy="306324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2514600"/>
            <a:ext cx="3017520" cy="502920"/>
          </a:xfrm>
          <a:prstGeom prst="rect">
            <a:avLst/>
          </a:prstGeom>
          <a:noFill/>
        </p:spPr>
        <p:txBody>
          <a:bodyPr wrap="square" anchor="t" lIns="0" rIns="0" tIns="0" bIns="0">
            <a:spAutoFit/>
          </a:bodyPr>
          <a:lstStyle/>
          <a:p>
            <a:pPr algn="l">
              <a:lnSpc>
                <a:spcPct val="105000"/>
              </a:lnSpc>
              <a:spcBef>
                <a:spcPts val="0"/>
              </a:spcBef>
              <a:spcAft>
                <a:spcPts val="300"/>
              </a:spcAft>
            </a:pPr>
            <a:r>
              <a:rPr sz="1300" b="1">
                <a:solidFill>
                  <a:srgbClr val="221D5E"/>
                </a:solidFill>
                <a:latin typeface="Arial"/>
              </a:rPr>
              <a:t>14 STATES</a:t>
            </a:r>
          </a:p>
        </p:txBody>
      </p:sp>
      <p:sp>
        <p:nvSpPr>
          <p:cNvPr id="14" name="TextBox 13"/>
          <p:cNvSpPr txBox="1"/>
          <p:nvPr/>
        </p:nvSpPr>
        <p:spPr>
          <a:xfrm>
            <a:off x="7360920" y="3017520"/>
            <a:ext cx="3017520" cy="2194560"/>
          </a:xfrm>
          <a:prstGeom prst="rect">
            <a:avLst/>
          </a:prstGeom>
          <a:noFill/>
        </p:spPr>
        <p:txBody>
          <a:bodyPr wrap="square" lIns="0" tIns="0">
            <a:spAutoFit/>
          </a:bodyPr>
          <a:lstStyle/>
          <a:p>
            <a:pPr>
              <a:lnSpc>
                <a:spcPct val="108000"/>
              </a:lnSpc>
              <a:spcAft>
                <a:spcPts val="400"/>
              </a:spcAft>
            </a:pPr>
            <a:r>
              <a:rPr sz="1000" b="1">
                <a:solidFill>
                  <a:srgbClr val="F47400"/>
                </a:solidFill>
                <a:latin typeface="Arial"/>
              </a:rPr>
              <a:t>▪  </a:t>
            </a:r>
            <a:r>
              <a:rPr sz="1000">
                <a:solidFill>
                  <a:srgbClr val="1A1A1A"/>
                </a:solidFill>
                <a:latin typeface="Arial"/>
              </a:rPr>
              <a:t>3,126,834 people reached since 2017</a:t>
            </a:r>
          </a:p>
          <a:p>
            <a:pPr>
              <a:lnSpc>
                <a:spcPct val="108000"/>
              </a:lnSpc>
              <a:spcAft>
                <a:spcPts val="400"/>
              </a:spcAft>
            </a:pPr>
            <a:r>
              <a:rPr sz="1000" b="1">
                <a:solidFill>
                  <a:srgbClr val="F47400"/>
                </a:solidFill>
                <a:latin typeface="Arial"/>
              </a:rPr>
              <a:t>▪  </a:t>
            </a:r>
            <a:r>
              <a:rPr sz="1000">
                <a:solidFill>
                  <a:srgbClr val="1A1A1A"/>
                </a:solidFill>
                <a:latin typeface="Arial"/>
              </a:rPr>
              <a:t>Saving lives • fighting poverty • social justice</a:t>
            </a:r>
          </a:p>
          <a:p>
            <a:pPr>
              <a:lnSpc>
                <a:spcPct val="108000"/>
              </a:lnSpc>
              <a:spcAft>
                <a:spcPts val="400"/>
              </a:spcAft>
            </a:pPr>
            <a:r>
              <a:rPr sz="1000" b="1">
                <a:solidFill>
                  <a:srgbClr val="F47400"/>
                </a:solidFill>
                <a:latin typeface="Arial"/>
              </a:rPr>
              <a:t>▪  </a:t>
            </a:r>
            <a:r>
              <a:rPr sz="1000">
                <a:solidFill>
                  <a:srgbClr val="1A1A1A"/>
                </a:solidFill>
                <a:latin typeface="Arial"/>
              </a:rPr>
              <a:t>Strengthening resilience and social service systems</a:t>
            </a:r>
          </a:p>
          <a:p>
            <a:pPr>
              <a:lnSpc>
                <a:spcPct val="108000"/>
              </a:lnSpc>
              <a:spcAft>
                <a:spcPts val="400"/>
              </a:spcAft>
            </a:pPr>
            <a:r>
              <a:rPr sz="1000" b="1">
                <a:solidFill>
                  <a:srgbClr val="F47400"/>
                </a:solidFill>
                <a:latin typeface="Arial"/>
              </a:rPr>
              <a:t>▪  </a:t>
            </a:r>
            <a:r>
              <a:rPr sz="1000">
                <a:solidFill>
                  <a:srgbClr val="1A1A1A"/>
                </a:solidFill>
                <a:latin typeface="Arial"/>
              </a:rPr>
              <a:t>Influencing federal and state policies</a:t>
            </a:r>
          </a:p>
        </p:txBody>
      </p:sp>
      <p:sp>
        <p:nvSpPr>
          <p:cNvPr id="15" name="Rectangle 14"/>
          <p:cNvSpPr/>
          <p:nvPr/>
        </p:nvSpPr>
        <p:spPr>
          <a:xfrm>
            <a:off x="411480" y="5623560"/>
            <a:ext cx="10149840" cy="12344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806440"/>
            <a:ext cx="9601200" cy="914400"/>
          </a:xfrm>
          <a:prstGeom prst="rect">
            <a:avLst/>
          </a:prstGeom>
          <a:noFill/>
        </p:spPr>
        <p:txBody>
          <a:bodyPr wrap="square" anchor="ctr" lIns="0" rIns="0" tIns="0" bIns="0">
            <a:spAutoFit/>
          </a:bodyPr>
          <a:lstStyle/>
          <a:p>
            <a:pPr algn="l">
              <a:lnSpc>
                <a:spcPct val="112000"/>
              </a:lnSpc>
              <a:spcBef>
                <a:spcPts val="0"/>
              </a:spcBef>
              <a:spcAft>
                <a:spcPts val="300"/>
              </a:spcAft>
            </a:pPr>
            <a:r>
              <a:rPr sz="1200" b="0">
                <a:solidFill>
                  <a:srgbClr val="FFFFFF"/>
                </a:solidFill>
                <a:latin typeface="Arial"/>
              </a:rPr>
              <a:t>Globally, CARE works in over 118 countries, reaching more than 53 million people through 1,450 projects — and has worked to alleviate poverty for over 64 million people since its 60th anniversary in 2016.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Governance &amp; Community</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457200"/>
          </a:xfrm>
          <a:prstGeom prst="rect">
            <a:avLst/>
          </a:prstGeom>
          <a:noFill/>
        </p:spPr>
        <p:txBody>
          <a:bodyPr wrap="square" anchor="t" lIns="0" rIns="0" tIns="0" bIns="0">
            <a:spAutoFit/>
          </a:bodyPr>
          <a:lstStyle/>
          <a:p>
            <a:pPr algn="l">
              <a:lnSpc>
                <a:spcPct val="105000"/>
              </a:lnSpc>
              <a:spcBef>
                <a:spcPts val="0"/>
              </a:spcBef>
              <a:spcAft>
                <a:spcPts val="300"/>
              </a:spcAft>
            </a:pPr>
            <a:r>
              <a:rPr sz="1400" b="0">
                <a:solidFill>
                  <a:srgbClr val="1A1A1A"/>
                </a:solidFill>
                <a:latin typeface="Arial"/>
              </a:rPr>
              <a:t>Strengthening quality, scale and impact in service to communities</a:t>
            </a:r>
          </a:p>
        </p:txBody>
      </p:sp>
      <p:sp>
        <p:nvSpPr>
          <p:cNvPr id="8" name="Rectangle 7"/>
          <p:cNvSpPr/>
          <p:nvPr/>
        </p:nvSpPr>
        <p:spPr>
          <a:xfrm>
            <a:off x="411480" y="1783080"/>
            <a:ext cx="4983480" cy="3291840"/>
          </a:xfrm>
          <a:prstGeom prst="rect">
            <a:avLst/>
          </a:prstGeom>
          <a:solidFill>
            <a:srgbClr val="FFFFFF"/>
          </a:solidFill>
          <a:ln w="1524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4480560" cy="2834640"/>
          </a:xfrm>
          <a:prstGeom prst="rect">
            <a:avLst/>
          </a:prstGeom>
          <a:noFill/>
        </p:spPr>
        <p:txBody>
          <a:bodyPr wrap="square" anchor="t" lIns="0" rIns="0" tIns="0" bIns="0">
            <a:spAutoFit/>
          </a:bodyPr>
          <a:lstStyle/>
          <a:p>
            <a:pPr algn="l">
              <a:lnSpc>
                <a:spcPct val="114000"/>
              </a:lnSpc>
              <a:spcBef>
                <a:spcPts val="0"/>
              </a:spcBef>
              <a:spcAft>
                <a:spcPts val="300"/>
              </a:spcAft>
            </a:pPr>
            <a:r>
              <a:rPr sz="1200" b="1">
                <a:solidFill>
                  <a:srgbClr val="221D5E"/>
                </a:solidFill>
                <a:latin typeface="Arial"/>
              </a:rPr>
              <a:t>THE ADVISORY COMMITTEE</a:t>
            </a:r>
          </a:p>
          <a:p>
            <a:pPr algn="l">
              <a:lnSpc>
                <a:spcPct val="114000"/>
              </a:lnSpc>
              <a:spcBef>
                <a:spcPts val="400"/>
              </a:spcBef>
              <a:spcAft>
                <a:spcPts val="300"/>
              </a:spcAft>
            </a:pPr>
            <a:r>
              <a:rPr sz="1100" b="0">
                <a:solidFill>
                  <a:srgbClr val="1A1A1A"/>
                </a:solidFill>
                <a:latin typeface="Arial"/>
              </a:rPr>
              <a:t>CARE Nigeria launched our Advisory Committee — a pool of national experts and supporters with the key mandate to advise CARE Nigeria and its partners on matters that will strengthen and enhance the quality, scale, and impact of our development and humanitarian programs, in service to communities and families that are disproportionately impacted by extreme poverty and social injustice.</a:t>
            </a:r>
          </a:p>
        </p:txBody>
      </p:sp>
      <p:sp>
        <p:nvSpPr>
          <p:cNvPr id="10" name="Rectangle 9"/>
          <p:cNvSpPr/>
          <p:nvPr/>
        </p:nvSpPr>
        <p:spPr>
          <a:xfrm>
            <a:off x="5623560" y="1783080"/>
            <a:ext cx="4937760" cy="32918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80" y="2011680"/>
            <a:ext cx="4434840" cy="2834640"/>
          </a:xfrm>
          <a:prstGeom prst="rect">
            <a:avLst/>
          </a:prstGeom>
          <a:noFill/>
        </p:spPr>
        <p:txBody>
          <a:bodyPr wrap="square" anchor="t" lIns="0" rIns="0" tIns="0" bIns="0">
            <a:spAutoFit/>
          </a:bodyPr>
          <a:lstStyle/>
          <a:p>
            <a:pPr algn="l">
              <a:lnSpc>
                <a:spcPct val="114000"/>
              </a:lnSpc>
              <a:spcBef>
                <a:spcPts val="0"/>
              </a:spcBef>
              <a:spcAft>
                <a:spcPts val="300"/>
              </a:spcAft>
            </a:pPr>
            <a:r>
              <a:rPr sz="1200" b="1">
                <a:solidFill>
                  <a:srgbClr val="F4B122"/>
                </a:solidFill>
                <a:latin typeface="Arial"/>
              </a:rPr>
              <a:t>COMMUNITY OF CARE</a:t>
            </a:r>
          </a:p>
          <a:p>
            <a:pPr algn="l">
              <a:lnSpc>
                <a:spcPct val="114000"/>
              </a:lnSpc>
              <a:spcBef>
                <a:spcPts val="400"/>
              </a:spcBef>
              <a:spcAft>
                <a:spcPts val="300"/>
              </a:spcAft>
            </a:pPr>
            <a:r>
              <a:rPr sz="1100" b="0">
                <a:solidFill>
                  <a:srgbClr val="FFFFFF"/>
                </a:solidFill>
                <a:latin typeface="Arial"/>
              </a:rPr>
              <a:t>We are piloting the Community of CARE, where its members shall contribute and share their expert knowledge and understanding of the Nigerian development and humanitarian sectors, policy environment, and funding landscape.</a:t>
            </a:r>
          </a:p>
        </p:txBody>
      </p:sp>
      <p:sp>
        <p:nvSpPr>
          <p:cNvPr id="12" name="Rectangle 11"/>
          <p:cNvSpPr/>
          <p:nvPr/>
        </p:nvSpPr>
        <p:spPr>
          <a:xfrm>
            <a:off x="411480" y="5349240"/>
            <a:ext cx="10149840" cy="1417320"/>
          </a:xfrm>
          <a:prstGeom prst="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532120"/>
            <a:ext cx="9601200" cy="1097280"/>
          </a:xfrm>
          <a:prstGeom prst="rect">
            <a:avLst/>
          </a:prstGeom>
          <a:noFill/>
        </p:spPr>
        <p:txBody>
          <a:bodyPr wrap="square" anchor="t" lIns="0" rIns="0" tIns="0" bIns="0">
            <a:spAutoFit/>
          </a:bodyPr>
          <a:lstStyle/>
          <a:p>
            <a:pPr algn="l">
              <a:lnSpc>
                <a:spcPct val="112000"/>
              </a:lnSpc>
              <a:spcBef>
                <a:spcPts val="0"/>
              </a:spcBef>
              <a:spcAft>
                <a:spcPts val="200"/>
              </a:spcAft>
            </a:pPr>
            <a:r>
              <a:rPr sz="1250" b="1">
                <a:solidFill>
                  <a:srgbClr val="221D5E"/>
                </a:solidFill>
                <a:latin typeface="Arial"/>
              </a:rPr>
              <a:t>Localization in action</a:t>
            </a:r>
          </a:p>
          <a:p>
            <a:pPr algn="l">
              <a:lnSpc>
                <a:spcPct val="112000"/>
              </a:lnSpc>
              <a:spcBef>
                <a:spcPts val="300"/>
              </a:spcBef>
              <a:spcAft>
                <a:spcPts val="200"/>
              </a:spcAft>
            </a:pPr>
            <a:r>
              <a:rPr sz="1150" b="0">
                <a:solidFill>
                  <a:srgbClr val="221D5E"/>
                </a:solidFill>
                <a:latin typeface="Arial"/>
              </a:rPr>
              <a:t>In line with CARE's localization agenda, CARE Nigeria is working with local women-led organizations to build capacities — ensuring Nigerian leadership drives the fight against poverty and social injustice.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The Global CARE Journey (1945 – 1975)</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Rectangle 6"/>
          <p:cNvSpPr/>
          <p:nvPr/>
        </p:nvSpPr>
        <p:spPr>
          <a:xfrm>
            <a:off x="411480" y="1234440"/>
            <a:ext cx="3200400" cy="777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2926080" cy="548640"/>
          </a:xfrm>
          <a:prstGeom prst="rect">
            <a:avLst/>
          </a:prstGeom>
          <a:noFill/>
        </p:spPr>
        <p:txBody>
          <a:bodyPr wrap="square" anchor="ctr" lIns="0" rIns="0" tIns="0" bIns="0">
            <a:spAutoFit/>
          </a:bodyPr>
          <a:lstStyle/>
          <a:p>
            <a:pPr algn="ctr">
              <a:lnSpc>
                <a:spcPct val="105000"/>
              </a:lnSpc>
              <a:spcBef>
                <a:spcPts val="0"/>
              </a:spcBef>
              <a:spcAft>
                <a:spcPts val="300"/>
              </a:spcAft>
            </a:pPr>
            <a:r>
              <a:rPr sz="1350" b="1">
                <a:solidFill>
                  <a:srgbClr val="FFFFFF"/>
                </a:solidFill>
                <a:latin typeface="Arial"/>
              </a:rPr>
              <a:t>1945 – 1955</a:t>
            </a:r>
          </a:p>
        </p:txBody>
      </p:sp>
      <p:sp>
        <p:nvSpPr>
          <p:cNvPr id="9" name="Rounded Rectangle 8"/>
          <p:cNvSpPr/>
          <p:nvPr/>
        </p:nvSpPr>
        <p:spPr>
          <a:xfrm>
            <a:off x="411480" y="2148840"/>
            <a:ext cx="3200400" cy="48920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377440"/>
            <a:ext cx="2834640" cy="100584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The Beginning: War and Recovery</a:t>
            </a:r>
          </a:p>
        </p:txBody>
      </p:sp>
      <p:sp>
        <p:nvSpPr>
          <p:cNvPr id="11" name="TextBox 10"/>
          <p:cNvSpPr txBox="1"/>
          <p:nvPr/>
        </p:nvSpPr>
        <p:spPr>
          <a:xfrm>
            <a:off x="594360" y="3520440"/>
            <a:ext cx="2834640" cy="3291840"/>
          </a:xfrm>
          <a:prstGeom prst="rect">
            <a:avLst/>
          </a:prstGeom>
          <a:noFill/>
        </p:spPr>
        <p:txBody>
          <a:bodyPr wrap="square" anchor="t" lIns="0" rIns="0" tIns="0" bIns="0">
            <a:spAutoFit/>
          </a:bodyPr>
          <a:lstStyle/>
          <a:p>
            <a:pPr algn="l">
              <a:lnSpc>
                <a:spcPct val="114000"/>
              </a:lnSpc>
              <a:spcBef>
                <a:spcPts val="0"/>
              </a:spcBef>
              <a:spcAft>
                <a:spcPts val="300"/>
              </a:spcAft>
            </a:pPr>
            <a:r>
              <a:rPr sz="1000" b="0">
                <a:solidFill>
                  <a:srgbClr val="221D5E"/>
                </a:solidFill>
                <a:latin typeface="Arial"/>
              </a:rPr>
              <a:t>CARE delivered its first CARE Packages to Le Havre, France, and by the end of the year had operations in 10 European nations. The CARE Package expanded to soap, textiles, toys, seed programs, and self-help agricultural projects. In 1950, CARE joined famine relief in Yugoslavia, Pakistan, and India, and began Korean War relief.</a:t>
            </a:r>
          </a:p>
        </p:txBody>
      </p:sp>
      <p:sp>
        <p:nvSpPr>
          <p:cNvPr id="12" name="Rectangle 11"/>
          <p:cNvSpPr/>
          <p:nvPr/>
        </p:nvSpPr>
        <p:spPr>
          <a:xfrm>
            <a:off x="3813048" y="1234440"/>
            <a:ext cx="3200400" cy="777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50208" y="1371600"/>
            <a:ext cx="2926080" cy="548640"/>
          </a:xfrm>
          <a:prstGeom prst="rect">
            <a:avLst/>
          </a:prstGeom>
          <a:noFill/>
        </p:spPr>
        <p:txBody>
          <a:bodyPr wrap="square" anchor="ctr" lIns="0" rIns="0" tIns="0" bIns="0">
            <a:spAutoFit/>
          </a:bodyPr>
          <a:lstStyle/>
          <a:p>
            <a:pPr algn="ctr">
              <a:lnSpc>
                <a:spcPct val="105000"/>
              </a:lnSpc>
              <a:spcBef>
                <a:spcPts val="0"/>
              </a:spcBef>
              <a:spcAft>
                <a:spcPts val="300"/>
              </a:spcAft>
            </a:pPr>
            <a:r>
              <a:rPr sz="1350" b="1">
                <a:solidFill>
                  <a:srgbClr val="FFFFFF"/>
                </a:solidFill>
                <a:latin typeface="Arial"/>
              </a:rPr>
              <a:t>1956 – 1965</a:t>
            </a:r>
          </a:p>
        </p:txBody>
      </p:sp>
      <p:sp>
        <p:nvSpPr>
          <p:cNvPr id="14" name="Rounded Rectangle 13"/>
          <p:cNvSpPr/>
          <p:nvPr/>
        </p:nvSpPr>
        <p:spPr>
          <a:xfrm>
            <a:off x="3813048" y="2148840"/>
            <a:ext cx="3200400" cy="48920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95928" y="2377440"/>
            <a:ext cx="2834640" cy="100584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New Frontiers</a:t>
            </a:r>
          </a:p>
        </p:txBody>
      </p:sp>
      <p:sp>
        <p:nvSpPr>
          <p:cNvPr id="16" name="TextBox 15"/>
          <p:cNvSpPr txBox="1"/>
          <p:nvPr/>
        </p:nvSpPr>
        <p:spPr>
          <a:xfrm>
            <a:off x="3995928" y="3520440"/>
            <a:ext cx="2834640" cy="3291840"/>
          </a:xfrm>
          <a:prstGeom prst="rect">
            <a:avLst/>
          </a:prstGeom>
          <a:noFill/>
        </p:spPr>
        <p:txBody>
          <a:bodyPr wrap="square" anchor="t" lIns="0" rIns="0" tIns="0" bIns="0">
            <a:spAutoFit/>
          </a:bodyPr>
          <a:lstStyle/>
          <a:p>
            <a:pPr algn="l">
              <a:lnSpc>
                <a:spcPct val="114000"/>
              </a:lnSpc>
              <a:spcBef>
                <a:spcPts val="0"/>
              </a:spcBef>
              <a:spcAft>
                <a:spcPts val="300"/>
              </a:spcAft>
            </a:pPr>
            <a:r>
              <a:rPr sz="1000" b="0">
                <a:solidFill>
                  <a:srgbClr val="221D5E"/>
                </a:solidFill>
                <a:latin typeface="Arial"/>
              </a:rPr>
              <a:t>With Europe recovering, CARE became increasingly involved in Asia and Latin America. In 1952, CARE opened its first mission in Mexico — and the “E” in CARE became “Everywhere.” CARE reached Africa (Liberia and Sierra Leone) and delivered the 50 millionth CARE Package in Colombia in 1963.</a:t>
            </a:r>
          </a:p>
        </p:txBody>
      </p:sp>
      <p:sp>
        <p:nvSpPr>
          <p:cNvPr id="17" name="Rectangle 16"/>
          <p:cNvSpPr/>
          <p:nvPr/>
        </p:nvSpPr>
        <p:spPr>
          <a:xfrm>
            <a:off x="7214616" y="1234440"/>
            <a:ext cx="3200400" cy="777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51776" y="1371600"/>
            <a:ext cx="2926080" cy="548640"/>
          </a:xfrm>
          <a:prstGeom prst="rect">
            <a:avLst/>
          </a:prstGeom>
          <a:noFill/>
        </p:spPr>
        <p:txBody>
          <a:bodyPr wrap="square" anchor="ctr" lIns="0" rIns="0" tIns="0" bIns="0">
            <a:spAutoFit/>
          </a:bodyPr>
          <a:lstStyle/>
          <a:p>
            <a:pPr algn="ctr">
              <a:lnSpc>
                <a:spcPct val="105000"/>
              </a:lnSpc>
              <a:spcBef>
                <a:spcPts val="0"/>
              </a:spcBef>
              <a:spcAft>
                <a:spcPts val="300"/>
              </a:spcAft>
            </a:pPr>
            <a:r>
              <a:rPr sz="1350" b="1">
                <a:solidFill>
                  <a:srgbClr val="FFFFFF"/>
                </a:solidFill>
                <a:latin typeface="Arial"/>
              </a:rPr>
              <a:t>1966 – 1975</a:t>
            </a:r>
          </a:p>
        </p:txBody>
      </p:sp>
      <p:sp>
        <p:nvSpPr>
          <p:cNvPr id="19" name="Rounded Rectangle 18"/>
          <p:cNvSpPr/>
          <p:nvPr/>
        </p:nvSpPr>
        <p:spPr>
          <a:xfrm>
            <a:off x="7214616" y="2148840"/>
            <a:ext cx="3200400" cy="48920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7496" y="2377440"/>
            <a:ext cx="2834640" cy="100584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Leading Global Development</a:t>
            </a:r>
          </a:p>
        </p:txBody>
      </p:sp>
      <p:sp>
        <p:nvSpPr>
          <p:cNvPr id="21" name="TextBox 20"/>
          <p:cNvSpPr txBox="1"/>
          <p:nvPr/>
        </p:nvSpPr>
        <p:spPr>
          <a:xfrm>
            <a:off x="7397496" y="3520440"/>
            <a:ext cx="2834640" cy="3291840"/>
          </a:xfrm>
          <a:prstGeom prst="rect">
            <a:avLst/>
          </a:prstGeom>
          <a:noFill/>
        </p:spPr>
        <p:txBody>
          <a:bodyPr wrap="square" anchor="t" lIns="0" rIns="0" tIns="0" bIns="0">
            <a:spAutoFit/>
          </a:bodyPr>
          <a:lstStyle/>
          <a:p>
            <a:pPr algn="l">
              <a:lnSpc>
                <a:spcPct val="114000"/>
              </a:lnSpc>
              <a:spcBef>
                <a:spcPts val="0"/>
              </a:spcBef>
              <a:spcAft>
                <a:spcPts val="300"/>
              </a:spcAft>
            </a:pPr>
            <a:r>
              <a:rPr sz="1000" b="0">
                <a:solidFill>
                  <a:srgbClr val="221D5E"/>
                </a:solidFill>
                <a:latin typeface="Arial"/>
              </a:rPr>
              <a:t>CARE transitioned to a development organization — family planning in Egypt, education programs, and war relief in Vietnam and Nigeria-Biafra. In 1967, CARE Europe formed, and the 100 millionth CARE Package was sold.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The Global CARE Journey (1976 – 2005)</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Rectangle 6"/>
          <p:cNvSpPr/>
          <p:nvPr/>
        </p:nvSpPr>
        <p:spPr>
          <a:xfrm>
            <a:off x="411480" y="1234440"/>
            <a:ext cx="3200400" cy="777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2926080" cy="548640"/>
          </a:xfrm>
          <a:prstGeom prst="rect">
            <a:avLst/>
          </a:prstGeom>
          <a:noFill/>
        </p:spPr>
        <p:txBody>
          <a:bodyPr wrap="square" anchor="ctr" lIns="0" rIns="0" tIns="0" bIns="0">
            <a:spAutoFit/>
          </a:bodyPr>
          <a:lstStyle/>
          <a:p>
            <a:pPr algn="ctr">
              <a:lnSpc>
                <a:spcPct val="105000"/>
              </a:lnSpc>
              <a:spcBef>
                <a:spcPts val="0"/>
              </a:spcBef>
              <a:spcAft>
                <a:spcPts val="300"/>
              </a:spcAft>
            </a:pPr>
            <a:r>
              <a:rPr sz="1350" b="1">
                <a:solidFill>
                  <a:srgbClr val="FFFFFF"/>
                </a:solidFill>
                <a:latin typeface="Arial"/>
              </a:rPr>
              <a:t>1976 – 1985</a:t>
            </a:r>
          </a:p>
        </p:txBody>
      </p:sp>
      <p:sp>
        <p:nvSpPr>
          <p:cNvPr id="9" name="Rounded Rectangle 8"/>
          <p:cNvSpPr/>
          <p:nvPr/>
        </p:nvSpPr>
        <p:spPr>
          <a:xfrm>
            <a:off x="411480" y="2148840"/>
            <a:ext cx="3200400" cy="48920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377440"/>
            <a:ext cx="2834640" cy="100584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New Programs: Local Leadership</a:t>
            </a:r>
          </a:p>
        </p:txBody>
      </p:sp>
      <p:sp>
        <p:nvSpPr>
          <p:cNvPr id="11" name="TextBox 10"/>
          <p:cNvSpPr txBox="1"/>
          <p:nvPr/>
        </p:nvSpPr>
        <p:spPr>
          <a:xfrm>
            <a:off x="594360" y="3520440"/>
            <a:ext cx="2834640" cy="3291840"/>
          </a:xfrm>
          <a:prstGeom prst="rect">
            <a:avLst/>
          </a:prstGeom>
          <a:noFill/>
        </p:spPr>
        <p:txBody>
          <a:bodyPr wrap="square" anchor="t" lIns="0" rIns="0" tIns="0" bIns="0">
            <a:spAutoFit/>
          </a:bodyPr>
          <a:lstStyle/>
          <a:p>
            <a:pPr algn="l">
              <a:lnSpc>
                <a:spcPct val="114000"/>
              </a:lnSpc>
              <a:spcBef>
                <a:spcPts val="0"/>
              </a:spcBef>
              <a:spcAft>
                <a:spcPts val="300"/>
              </a:spcAft>
            </a:pPr>
            <a:r>
              <a:rPr sz="1000" b="0">
                <a:solidFill>
                  <a:srgbClr val="221D5E"/>
                </a:solidFill>
                <a:latin typeface="Arial"/>
              </a:rPr>
              <a:t>CARE trained national staff to take over local operations. CARE International was established in 1982. Women's development programs expanded internationally. In 1983, CARE expanded rapidly in Africa, and in 1985 responded as the worst famine in a century gripped the continent.</a:t>
            </a:r>
          </a:p>
        </p:txBody>
      </p:sp>
      <p:sp>
        <p:nvSpPr>
          <p:cNvPr id="12" name="Rectangle 11"/>
          <p:cNvSpPr/>
          <p:nvPr/>
        </p:nvSpPr>
        <p:spPr>
          <a:xfrm>
            <a:off x="3813048" y="1234440"/>
            <a:ext cx="3200400" cy="777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50208" y="1371600"/>
            <a:ext cx="2926080" cy="548640"/>
          </a:xfrm>
          <a:prstGeom prst="rect">
            <a:avLst/>
          </a:prstGeom>
          <a:noFill/>
        </p:spPr>
        <p:txBody>
          <a:bodyPr wrap="square" anchor="ctr" lIns="0" rIns="0" tIns="0" bIns="0">
            <a:spAutoFit/>
          </a:bodyPr>
          <a:lstStyle/>
          <a:p>
            <a:pPr algn="ctr">
              <a:lnSpc>
                <a:spcPct val="105000"/>
              </a:lnSpc>
              <a:spcBef>
                <a:spcPts val="0"/>
              </a:spcBef>
              <a:spcAft>
                <a:spcPts val="300"/>
              </a:spcAft>
            </a:pPr>
            <a:r>
              <a:rPr sz="1350" b="1">
                <a:solidFill>
                  <a:srgbClr val="FFFFFF"/>
                </a:solidFill>
                <a:latin typeface="Arial"/>
              </a:rPr>
              <a:t>1986 – 1995</a:t>
            </a:r>
          </a:p>
        </p:txBody>
      </p:sp>
      <p:sp>
        <p:nvSpPr>
          <p:cNvPr id="14" name="Rounded Rectangle 13"/>
          <p:cNvSpPr/>
          <p:nvPr/>
        </p:nvSpPr>
        <p:spPr>
          <a:xfrm>
            <a:off x="3813048" y="2148840"/>
            <a:ext cx="3200400" cy="48920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95928" y="2377440"/>
            <a:ext cx="2834640" cy="100584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The Birth of a New CARE</a:t>
            </a:r>
          </a:p>
        </p:txBody>
      </p:sp>
      <p:sp>
        <p:nvSpPr>
          <p:cNvPr id="16" name="TextBox 15"/>
          <p:cNvSpPr txBox="1"/>
          <p:nvPr/>
        </p:nvSpPr>
        <p:spPr>
          <a:xfrm>
            <a:off x="3995928" y="3520440"/>
            <a:ext cx="2834640" cy="3291840"/>
          </a:xfrm>
          <a:prstGeom prst="rect">
            <a:avLst/>
          </a:prstGeom>
          <a:noFill/>
        </p:spPr>
        <p:txBody>
          <a:bodyPr wrap="square" anchor="t" lIns="0" rIns="0" tIns="0" bIns="0">
            <a:spAutoFit/>
          </a:bodyPr>
          <a:lstStyle/>
          <a:p>
            <a:pPr algn="l">
              <a:lnSpc>
                <a:spcPct val="114000"/>
              </a:lnSpc>
              <a:spcBef>
                <a:spcPts val="0"/>
              </a:spcBef>
              <a:spcAft>
                <a:spcPts val="300"/>
              </a:spcAft>
            </a:pPr>
            <a:r>
              <a:rPr sz="1000" b="0">
                <a:solidFill>
                  <a:srgbClr val="221D5E"/>
                </a:solidFill>
                <a:latin typeface="Arial"/>
              </a:rPr>
              <a:t>In 1992, CARE moved its headquarters from New York to Atlanta and changed its name to “Cooperative for Assistance and Relief Everywhere.” In 1993, CARE committed to focusing on women and girls as key agents of change. In 1995, CARE celebrated its first 50 years.</a:t>
            </a:r>
          </a:p>
        </p:txBody>
      </p:sp>
      <p:sp>
        <p:nvSpPr>
          <p:cNvPr id="17" name="Rectangle 16"/>
          <p:cNvSpPr/>
          <p:nvPr/>
        </p:nvSpPr>
        <p:spPr>
          <a:xfrm>
            <a:off x="7214616" y="1234440"/>
            <a:ext cx="3200400" cy="777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51776" y="1371600"/>
            <a:ext cx="2926080" cy="548640"/>
          </a:xfrm>
          <a:prstGeom prst="rect">
            <a:avLst/>
          </a:prstGeom>
          <a:noFill/>
        </p:spPr>
        <p:txBody>
          <a:bodyPr wrap="square" anchor="ctr" lIns="0" rIns="0" tIns="0" bIns="0">
            <a:spAutoFit/>
          </a:bodyPr>
          <a:lstStyle/>
          <a:p>
            <a:pPr algn="ctr">
              <a:lnSpc>
                <a:spcPct val="105000"/>
              </a:lnSpc>
              <a:spcBef>
                <a:spcPts val="0"/>
              </a:spcBef>
              <a:spcAft>
                <a:spcPts val="300"/>
              </a:spcAft>
            </a:pPr>
            <a:r>
              <a:rPr sz="1350" b="1">
                <a:solidFill>
                  <a:srgbClr val="FFFFFF"/>
                </a:solidFill>
                <a:latin typeface="Arial"/>
              </a:rPr>
              <a:t>1996 – 2005</a:t>
            </a:r>
          </a:p>
        </p:txBody>
      </p:sp>
      <p:sp>
        <p:nvSpPr>
          <p:cNvPr id="19" name="Rounded Rectangle 18"/>
          <p:cNvSpPr/>
          <p:nvPr/>
        </p:nvSpPr>
        <p:spPr>
          <a:xfrm>
            <a:off x="7214616" y="2148840"/>
            <a:ext cx="3200400" cy="48920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7496" y="2377440"/>
            <a:ext cx="2834640" cy="1005840"/>
          </a:xfrm>
          <a:prstGeom prst="rect">
            <a:avLst/>
          </a:prstGeom>
          <a:noFill/>
        </p:spPr>
        <p:txBody>
          <a:bodyPr wrap="square" anchor="t" lIns="0" rIns="0" tIns="0" bIns="0">
            <a:spAutoFit/>
          </a:bodyPr>
          <a:lstStyle/>
          <a:p>
            <a:pPr algn="l">
              <a:lnSpc>
                <a:spcPct val="105000"/>
              </a:lnSpc>
              <a:spcBef>
                <a:spcPts val="0"/>
              </a:spcBef>
              <a:spcAft>
                <a:spcPts val="300"/>
              </a:spcAft>
            </a:pPr>
            <a:r>
              <a:rPr sz="1150" b="1">
                <a:solidFill>
                  <a:srgbClr val="221D5E"/>
                </a:solidFill>
                <a:latin typeface="Arial"/>
              </a:rPr>
              <a:t>The New Millennium</a:t>
            </a:r>
          </a:p>
        </p:txBody>
      </p:sp>
      <p:sp>
        <p:nvSpPr>
          <p:cNvPr id="21" name="TextBox 20"/>
          <p:cNvSpPr txBox="1"/>
          <p:nvPr/>
        </p:nvSpPr>
        <p:spPr>
          <a:xfrm>
            <a:off x="7397496" y="3520440"/>
            <a:ext cx="2834640" cy="3291840"/>
          </a:xfrm>
          <a:prstGeom prst="rect">
            <a:avLst/>
          </a:prstGeom>
          <a:noFill/>
        </p:spPr>
        <p:txBody>
          <a:bodyPr wrap="square" anchor="t" lIns="0" rIns="0" tIns="0" bIns="0">
            <a:spAutoFit/>
          </a:bodyPr>
          <a:lstStyle/>
          <a:p>
            <a:pPr algn="l">
              <a:lnSpc>
                <a:spcPct val="114000"/>
              </a:lnSpc>
              <a:spcBef>
                <a:spcPts val="0"/>
              </a:spcBef>
              <a:spcAft>
                <a:spcPts val="300"/>
              </a:spcAft>
            </a:pPr>
            <a:r>
              <a:rPr sz="1000" b="0">
                <a:solidFill>
                  <a:srgbClr val="221D5E"/>
                </a:solidFill>
                <a:latin typeface="Arial"/>
              </a:rPr>
              <a:t>Empowerment, equity, sustainability and advocacy: CARE tackled poverty's root causes and strengthened civil society through terrorism, war and the HIV/AIDS pandemic. By 2005: basic and girls' education, emergency response, HIV/AIDS, water and sanitation.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The Global CARE Journey (2006 – Present)</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Rounded Rectangle 6"/>
          <p:cNvSpPr/>
          <p:nvPr/>
        </p:nvSpPr>
        <p:spPr>
          <a:xfrm>
            <a:off x="411480" y="1234440"/>
            <a:ext cx="4983480" cy="306324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4480560" cy="2606040"/>
          </a:xfrm>
          <a:prstGeom prst="rect">
            <a:avLst/>
          </a:prstGeom>
          <a:noFill/>
        </p:spPr>
        <p:txBody>
          <a:bodyPr wrap="square" anchor="t" lIns="0" rIns="0" tIns="0" bIns="0">
            <a:spAutoFit/>
          </a:bodyPr>
          <a:lstStyle/>
          <a:p>
            <a:pPr algn="l">
              <a:lnSpc>
                <a:spcPct val="114000"/>
              </a:lnSpc>
              <a:spcBef>
                <a:spcPts val="0"/>
              </a:spcBef>
              <a:spcAft>
                <a:spcPts val="200"/>
              </a:spcAft>
            </a:pPr>
            <a:r>
              <a:rPr sz="1300" b="1">
                <a:solidFill>
                  <a:srgbClr val="221D5E"/>
                </a:solidFill>
                <a:latin typeface="Arial"/>
              </a:rPr>
              <a:t>2006 – 2015</a:t>
            </a:r>
          </a:p>
          <a:p>
            <a:pPr algn="l">
              <a:lnSpc>
                <a:spcPct val="114000"/>
              </a:lnSpc>
              <a:spcBef>
                <a:spcPts val="200"/>
              </a:spcBef>
              <a:spcAft>
                <a:spcPts val="200"/>
              </a:spcAft>
            </a:pPr>
            <a:r>
              <a:rPr sz="1200" b="1">
                <a:solidFill>
                  <a:srgbClr val="221D5E"/>
                </a:solidFill>
                <a:latin typeface="Arial"/>
              </a:rPr>
              <a:t>Women and Girls at the Center</a:t>
            </a:r>
          </a:p>
          <a:p>
            <a:pPr algn="l">
              <a:lnSpc>
                <a:spcPct val="114000"/>
              </a:lnSpc>
              <a:spcBef>
                <a:spcPts val="400"/>
              </a:spcBef>
              <a:spcAft>
                <a:spcPts val="200"/>
              </a:spcAft>
            </a:pPr>
            <a:r>
              <a:rPr sz="1050" b="0">
                <a:solidFill>
                  <a:srgbClr val="221D5E"/>
                </a:solidFill>
                <a:latin typeface="Arial"/>
              </a:rPr>
              <a:t>CARE placed women and girls at the center while working alongside men and boys — Pathways to Empowerment and signature programs in maternal health, education, leadership and economic opportunity. CARE became a leading responder to food crises and droughts across the globe.</a:t>
            </a:r>
          </a:p>
        </p:txBody>
      </p:sp>
      <p:sp>
        <p:nvSpPr>
          <p:cNvPr id="9" name="Rectangle 8"/>
          <p:cNvSpPr/>
          <p:nvPr/>
        </p:nvSpPr>
        <p:spPr>
          <a:xfrm>
            <a:off x="5623560" y="1234440"/>
            <a:ext cx="4937760" cy="306324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80" y="1463040"/>
            <a:ext cx="4434840" cy="2606040"/>
          </a:xfrm>
          <a:prstGeom prst="rect">
            <a:avLst/>
          </a:prstGeom>
          <a:noFill/>
        </p:spPr>
        <p:txBody>
          <a:bodyPr wrap="square" anchor="t" lIns="0" rIns="0" tIns="0" bIns="0">
            <a:spAutoFit/>
          </a:bodyPr>
          <a:lstStyle/>
          <a:p>
            <a:pPr algn="l">
              <a:lnSpc>
                <a:spcPct val="114000"/>
              </a:lnSpc>
              <a:spcBef>
                <a:spcPts val="0"/>
              </a:spcBef>
              <a:spcAft>
                <a:spcPts val="200"/>
              </a:spcAft>
            </a:pPr>
            <a:r>
              <a:rPr sz="1300" b="1">
                <a:solidFill>
                  <a:srgbClr val="F4B122"/>
                </a:solidFill>
                <a:latin typeface="Arial"/>
              </a:rPr>
              <a:t>2016 – Present</a:t>
            </a:r>
          </a:p>
          <a:p>
            <a:pPr algn="l">
              <a:lnSpc>
                <a:spcPct val="114000"/>
              </a:lnSpc>
              <a:spcBef>
                <a:spcPts val="200"/>
              </a:spcBef>
              <a:spcAft>
                <a:spcPts val="200"/>
              </a:spcAft>
            </a:pPr>
            <a:r>
              <a:rPr sz="1200" b="1">
                <a:solidFill>
                  <a:srgbClr val="FFFFFF"/>
                </a:solidFill>
                <a:latin typeface="Arial"/>
              </a:rPr>
              <a:t>Scaling the Future</a:t>
            </a:r>
          </a:p>
          <a:p>
            <a:pPr algn="l">
              <a:lnSpc>
                <a:spcPct val="114000"/>
              </a:lnSpc>
              <a:spcBef>
                <a:spcPts val="400"/>
              </a:spcBef>
              <a:spcAft>
                <a:spcPts val="200"/>
              </a:spcAft>
            </a:pPr>
            <a:r>
              <a:rPr sz="1050" b="0">
                <a:solidFill>
                  <a:srgbClr val="FFFFFF"/>
                </a:solidFill>
                <a:latin typeface="Arial"/>
              </a:rPr>
              <a:t>CARE, an international NGO, has been working to alleviate poverty in over 64 million people since its 60th anniversary in 2016. New tools track impact globally, aligning with the Sustainable Development Goals. This is the era in which CARE Nigeria was born and grew.</a:t>
            </a:r>
          </a:p>
        </p:txBody>
      </p:sp>
      <p:sp>
        <p:nvSpPr>
          <p:cNvPr id="11" name="Rectangle 10"/>
          <p:cNvSpPr/>
          <p:nvPr/>
        </p:nvSpPr>
        <p:spPr>
          <a:xfrm>
            <a:off x="411480" y="4617720"/>
            <a:ext cx="10149840" cy="150876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846320"/>
            <a:ext cx="9601200" cy="1143000"/>
          </a:xfrm>
          <a:prstGeom prst="rect">
            <a:avLst/>
          </a:prstGeom>
          <a:noFill/>
        </p:spPr>
        <p:txBody>
          <a:bodyPr wrap="square" anchor="t" lIns="0" rIns="0" tIns="0" bIns="0">
            <a:spAutoFit/>
          </a:bodyPr>
          <a:lstStyle/>
          <a:p>
            <a:pPr algn="l">
              <a:lnSpc>
                <a:spcPct val="114000"/>
              </a:lnSpc>
              <a:spcBef>
                <a:spcPts val="0"/>
              </a:spcBef>
              <a:spcAft>
                <a:spcPts val="300"/>
              </a:spcAft>
            </a:pPr>
            <a:r>
              <a:rPr sz="1200" b="0">
                <a:solidFill>
                  <a:srgbClr val="1A1A1A"/>
                </a:solidFill>
                <a:latin typeface="Arial"/>
              </a:rPr>
              <a:t>CARE's understanding of poverty has grown over decades of experience — helping us to address poverty's root causes. Today, CARE and partners work in 109 countries, reaching 167 million people around the world through poverty-fighting development and humanitarian aid programs.</a:t>
            </a:r>
          </a:p>
        </p:txBody>
      </p:sp>
      <p:sp>
        <p:nvSpPr>
          <p:cNvPr id="13" name="Rectangle 12"/>
          <p:cNvSpPr/>
          <p:nvPr/>
        </p:nvSpPr>
        <p:spPr>
          <a:xfrm>
            <a:off x="411480" y="6355080"/>
            <a:ext cx="10149840" cy="105156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510528"/>
            <a:ext cx="9601200" cy="777240"/>
          </a:xfrm>
          <a:prstGeom prst="rect">
            <a:avLst/>
          </a:prstGeom>
          <a:noFill/>
        </p:spPr>
        <p:txBody>
          <a:bodyPr wrap="square" anchor="ctr" lIns="0" rIns="0" tIns="0" bIns="0">
            <a:spAutoFit/>
          </a:bodyPr>
          <a:lstStyle/>
          <a:p>
            <a:pPr algn="l">
              <a:lnSpc>
                <a:spcPct val="105000"/>
              </a:lnSpc>
              <a:spcBef>
                <a:spcPts val="0"/>
              </a:spcBef>
              <a:spcAft>
                <a:spcPts val="300"/>
              </a:spcAft>
            </a:pPr>
            <a:r>
              <a:rPr sz="1200" b="1">
                <a:solidFill>
                  <a:srgbClr val="FFFFFF"/>
                </a:solidFill>
                <a:latin typeface="Arial"/>
              </a:rPr>
              <a:t>CARE Nigeria: born from this global journey — cross-border programming in 2001 to 14 states in 2024.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D"/>
        </a:solidFill>
        <a:effectLst/>
      </p:bgPr>
    </p:bg>
    <p:spTree>
      <p:nvGrpSpPr>
        <p:cNvPr id="1" name=""/>
        <p:cNvGrpSpPr/>
        <p:nvPr/>
      </p:nvGrpSpPr>
      <p:grpSpPr/>
      <p:sp>
        <p:nvSpPr>
          <p:cNvPr id="2" name="Rectangle 1"/>
          <p:cNvSpPr/>
          <p:nvPr/>
        </p:nvSpPr>
        <p:spPr>
          <a:xfrm>
            <a:off x="0" y="201168"/>
            <a:ext cx="128016" cy="713232"/>
          </a:xfrm>
          <a:prstGeom prst="rect">
            <a:avLst/>
          </a:prstGeom>
          <a:solidFill>
            <a:srgbClr val="F4B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10241280" cy="658368"/>
          </a:xfrm>
          <a:prstGeom prst="rect">
            <a:avLst/>
          </a:prstGeom>
          <a:noFill/>
        </p:spPr>
        <p:txBody>
          <a:bodyPr wrap="square" anchor="ctr" lIns="0" rIns="0" tIns="0" bIns="0">
            <a:spAutoFit/>
          </a:bodyPr>
          <a:lstStyle/>
          <a:p>
            <a:pPr algn="l">
              <a:lnSpc>
                <a:spcPct val="105000"/>
              </a:lnSpc>
              <a:spcBef>
                <a:spcPts val="0"/>
              </a:spcBef>
              <a:spcAft>
                <a:spcPts val="300"/>
              </a:spcAft>
            </a:pPr>
            <a:r>
              <a:rPr sz="2600" b="1">
                <a:solidFill>
                  <a:srgbClr val="1A1A1A"/>
                </a:solidFill>
                <a:latin typeface="Arial"/>
              </a:rPr>
              <a:t>In This Section</a:t>
            </a:r>
          </a:p>
        </p:txBody>
      </p:sp>
      <p:sp>
        <p:nvSpPr>
          <p:cNvPr id="4" name="Rectangle 3"/>
          <p:cNvSpPr/>
          <p:nvPr/>
        </p:nvSpPr>
        <p:spPr>
          <a:xfrm>
            <a:off x="0" y="896112"/>
            <a:ext cx="10972800" cy="50292"/>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7882127"/>
            <a:ext cx="10332720" cy="16459"/>
          </a:xfrm>
          <a:prstGeom prst="rect">
            <a:avLst/>
          </a:prstGeom>
          <a:solidFill>
            <a:srgbClr val="F4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7571231"/>
            <a:ext cx="1188720" cy="274320"/>
          </a:xfrm>
          <a:prstGeom prst="rect">
            <a:avLst/>
          </a:prstGeom>
          <a:noFill/>
        </p:spPr>
        <p:txBody>
          <a:bodyPr wrap="square" anchor="t" lIns="0" rIns="0" tIns="0" bIns="0">
            <a:spAutoFit/>
          </a:bodyPr>
          <a:lstStyle/>
          <a:p>
            <a:pPr algn="r">
              <a:lnSpc>
                <a:spcPct val="105000"/>
              </a:lnSpc>
              <a:spcBef>
                <a:spcPts val="0"/>
              </a:spcBef>
              <a:spcAft>
                <a:spcPts val="300"/>
              </a:spcAft>
            </a:pPr>
            <a:r>
              <a:rPr sz="900" b="1">
                <a:solidFill>
                  <a:srgbClr val="F47400"/>
                </a:solidFill>
                <a:latin typeface="Arial"/>
              </a:rPr>
              <a:t>CARE</a:t>
            </a:r>
          </a:p>
        </p:txBody>
      </p:sp>
      <p:sp>
        <p:nvSpPr>
          <p:cNvPr id="7" name="TextBox 6"/>
          <p:cNvSpPr txBox="1"/>
          <p:nvPr/>
        </p:nvSpPr>
        <p:spPr>
          <a:xfrm>
            <a:off x="411480" y="1078992"/>
            <a:ext cx="10149840" cy="457200"/>
          </a:xfrm>
          <a:prstGeom prst="rect">
            <a:avLst/>
          </a:prstGeom>
          <a:noFill/>
        </p:spPr>
        <p:txBody>
          <a:bodyPr wrap="square" anchor="t" lIns="0" rIns="0" tIns="0" bIns="0">
            <a:spAutoFit/>
          </a:bodyPr>
          <a:lstStyle/>
          <a:p>
            <a:pPr algn="l">
              <a:lnSpc>
                <a:spcPct val="105000"/>
              </a:lnSpc>
              <a:spcBef>
                <a:spcPts val="0"/>
              </a:spcBef>
              <a:spcAft>
                <a:spcPts val="300"/>
              </a:spcAft>
            </a:pPr>
            <a:r>
              <a:rPr sz="1400" b="0">
                <a:solidFill>
                  <a:srgbClr val="1A1A1A"/>
                </a:solidFill>
                <a:latin typeface="Arial"/>
              </a:rPr>
              <a:t>Explore more about CARE Nigeria at carenigeria.org</a:t>
            </a:r>
          </a:p>
        </p:txBody>
      </p:sp>
      <p:sp>
        <p:nvSpPr>
          <p:cNvPr id="8" name="Rounded Rectangle 7"/>
          <p:cNvSpPr/>
          <p:nvPr/>
        </p:nvSpPr>
        <p:spPr>
          <a:xfrm>
            <a:off x="411480" y="1737360"/>
            <a:ext cx="5029200" cy="246888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737360"/>
            <a:ext cx="5029200" cy="64008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56231"/>
            <a:ext cx="4572000" cy="457200"/>
          </a:xfrm>
          <a:prstGeom prst="rect">
            <a:avLst/>
          </a:prstGeom>
          <a:noFill/>
        </p:spPr>
        <p:txBody>
          <a:bodyPr wrap="square" anchor="ctr" lIns="0" rIns="0" tIns="0" bIns="0">
            <a:spAutoFit/>
          </a:bodyPr>
          <a:lstStyle/>
          <a:p>
            <a:pPr algn="l">
              <a:lnSpc>
                <a:spcPct val="105000"/>
              </a:lnSpc>
              <a:spcBef>
                <a:spcPts val="0"/>
              </a:spcBef>
              <a:spcAft>
                <a:spcPts val="300"/>
              </a:spcAft>
            </a:pPr>
            <a:r>
              <a:rPr sz="1500" b="1">
                <a:solidFill>
                  <a:srgbClr val="FFFFFF"/>
                </a:solidFill>
                <a:latin typeface="Arial"/>
              </a:rPr>
              <a:t>History</a:t>
            </a:r>
          </a:p>
        </p:txBody>
      </p:sp>
      <p:sp>
        <p:nvSpPr>
          <p:cNvPr id="11" name="TextBox 10"/>
          <p:cNvSpPr txBox="1"/>
          <p:nvPr/>
        </p:nvSpPr>
        <p:spPr>
          <a:xfrm>
            <a:off x="640080" y="2606039"/>
            <a:ext cx="4572000" cy="1051560"/>
          </a:xfrm>
          <a:prstGeom prst="rect">
            <a:avLst/>
          </a:prstGeom>
          <a:noFill/>
        </p:spPr>
        <p:txBody>
          <a:bodyPr wrap="square" anchor="t" lIns="0" rIns="0" tIns="0" bIns="0">
            <a:spAutoFit/>
          </a:bodyPr>
          <a:lstStyle/>
          <a:p>
            <a:pPr algn="l">
              <a:lnSpc>
                <a:spcPct val="112000"/>
              </a:lnSpc>
              <a:spcBef>
                <a:spcPts val="0"/>
              </a:spcBef>
              <a:spcAft>
                <a:spcPts val="300"/>
              </a:spcAft>
            </a:pPr>
            <a:r>
              <a:rPr sz="1100" b="0">
                <a:solidFill>
                  <a:srgbClr val="221D5E"/>
                </a:solidFill>
                <a:latin typeface="Arial"/>
              </a:rPr>
              <a:t>The full story of CARE in Nigeria and CARE's global journey across eight decades.</a:t>
            </a:r>
          </a:p>
        </p:txBody>
      </p:sp>
      <p:sp>
        <p:nvSpPr>
          <p:cNvPr id="12" name="TextBox 11"/>
          <p:cNvSpPr txBox="1"/>
          <p:nvPr/>
        </p:nvSpPr>
        <p:spPr>
          <a:xfrm>
            <a:off x="640080" y="3703320"/>
            <a:ext cx="4572000" cy="365760"/>
          </a:xfrm>
          <a:prstGeom prst="rect">
            <a:avLst/>
          </a:prstGeom>
          <a:noFill/>
        </p:spPr>
        <p:txBody>
          <a:bodyPr wrap="square" anchor="t" lIns="0" rIns="0" tIns="0" bIns="0">
            <a:spAutoFit/>
          </a:bodyPr>
          <a:lstStyle/>
          <a:p>
            <a:pPr algn="l">
              <a:lnSpc>
                <a:spcPct val="105000"/>
              </a:lnSpc>
              <a:spcBef>
                <a:spcPts val="0"/>
              </a:spcBef>
              <a:spcAft>
                <a:spcPts val="300"/>
              </a:spcAft>
            </a:pPr>
            <a:r>
              <a:rPr sz="1100" b="1">
                <a:solidFill>
                  <a:srgbClr val="F47400"/>
                </a:solidFill>
                <a:latin typeface="Arial"/>
              </a:rPr>
              <a:t>🔗  carenigeria.org/history</a:t>
            </a:r>
          </a:p>
        </p:txBody>
      </p:sp>
      <p:sp>
        <p:nvSpPr>
          <p:cNvPr id="13" name="Rounded Rectangle 12"/>
          <p:cNvSpPr/>
          <p:nvPr/>
        </p:nvSpPr>
        <p:spPr>
          <a:xfrm>
            <a:off x="5669280" y="1737360"/>
            <a:ext cx="5029200" cy="246888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0" y="1737360"/>
            <a:ext cx="5029200" cy="64008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7880" y="1856231"/>
            <a:ext cx="4572000" cy="457200"/>
          </a:xfrm>
          <a:prstGeom prst="rect">
            <a:avLst/>
          </a:prstGeom>
          <a:noFill/>
        </p:spPr>
        <p:txBody>
          <a:bodyPr wrap="square" anchor="ctr" lIns="0" rIns="0" tIns="0" bIns="0">
            <a:spAutoFit/>
          </a:bodyPr>
          <a:lstStyle/>
          <a:p>
            <a:pPr algn="l">
              <a:lnSpc>
                <a:spcPct val="105000"/>
              </a:lnSpc>
              <a:spcBef>
                <a:spcPts val="0"/>
              </a:spcBef>
              <a:spcAft>
                <a:spcPts val="300"/>
              </a:spcAft>
            </a:pPr>
            <a:r>
              <a:rPr sz="1500" b="1">
                <a:solidFill>
                  <a:srgbClr val="FFFFFF"/>
                </a:solidFill>
                <a:latin typeface="Arial"/>
              </a:rPr>
              <a:t>Partners</a:t>
            </a:r>
          </a:p>
        </p:txBody>
      </p:sp>
      <p:sp>
        <p:nvSpPr>
          <p:cNvPr id="16" name="TextBox 15"/>
          <p:cNvSpPr txBox="1"/>
          <p:nvPr/>
        </p:nvSpPr>
        <p:spPr>
          <a:xfrm>
            <a:off x="5897880" y="2606039"/>
            <a:ext cx="4572000" cy="1051560"/>
          </a:xfrm>
          <a:prstGeom prst="rect">
            <a:avLst/>
          </a:prstGeom>
          <a:noFill/>
        </p:spPr>
        <p:txBody>
          <a:bodyPr wrap="square" anchor="t" lIns="0" rIns="0" tIns="0" bIns="0">
            <a:spAutoFit/>
          </a:bodyPr>
          <a:lstStyle/>
          <a:p>
            <a:pPr algn="l">
              <a:lnSpc>
                <a:spcPct val="112000"/>
              </a:lnSpc>
              <a:spcBef>
                <a:spcPts val="0"/>
              </a:spcBef>
              <a:spcAft>
                <a:spcPts val="300"/>
              </a:spcAft>
            </a:pPr>
            <a:r>
              <a:rPr sz="1100" b="0">
                <a:solidFill>
                  <a:srgbClr val="221D5E"/>
                </a:solidFill>
                <a:latin typeface="Arial"/>
              </a:rPr>
              <a:t>The donors and partners who make CARE Nigeria's work possible — including CARE USA, CARE Canada and WFP.</a:t>
            </a:r>
          </a:p>
        </p:txBody>
      </p:sp>
      <p:sp>
        <p:nvSpPr>
          <p:cNvPr id="17" name="TextBox 16"/>
          <p:cNvSpPr txBox="1"/>
          <p:nvPr/>
        </p:nvSpPr>
        <p:spPr>
          <a:xfrm>
            <a:off x="5897880" y="3703320"/>
            <a:ext cx="4572000" cy="365760"/>
          </a:xfrm>
          <a:prstGeom prst="rect">
            <a:avLst/>
          </a:prstGeom>
          <a:noFill/>
        </p:spPr>
        <p:txBody>
          <a:bodyPr wrap="square" anchor="t" lIns="0" rIns="0" tIns="0" bIns="0">
            <a:spAutoFit/>
          </a:bodyPr>
          <a:lstStyle/>
          <a:p>
            <a:pPr algn="l">
              <a:lnSpc>
                <a:spcPct val="105000"/>
              </a:lnSpc>
              <a:spcBef>
                <a:spcPts val="0"/>
              </a:spcBef>
              <a:spcAft>
                <a:spcPts val="300"/>
              </a:spcAft>
            </a:pPr>
            <a:r>
              <a:rPr sz="1100" b="1">
                <a:solidFill>
                  <a:srgbClr val="F47400"/>
                </a:solidFill>
                <a:latin typeface="Arial"/>
              </a:rPr>
              <a:t>🔗  carenigeria.org/partners</a:t>
            </a:r>
          </a:p>
        </p:txBody>
      </p:sp>
      <p:sp>
        <p:nvSpPr>
          <p:cNvPr id="18" name="Rounded Rectangle 17"/>
          <p:cNvSpPr/>
          <p:nvPr/>
        </p:nvSpPr>
        <p:spPr>
          <a:xfrm>
            <a:off x="411480" y="4434840"/>
            <a:ext cx="5029200" cy="246888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4434840"/>
            <a:ext cx="5029200" cy="64008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53712"/>
            <a:ext cx="4572000" cy="457200"/>
          </a:xfrm>
          <a:prstGeom prst="rect">
            <a:avLst/>
          </a:prstGeom>
          <a:noFill/>
        </p:spPr>
        <p:txBody>
          <a:bodyPr wrap="square" anchor="ctr" lIns="0" rIns="0" tIns="0" bIns="0">
            <a:spAutoFit/>
          </a:bodyPr>
          <a:lstStyle/>
          <a:p>
            <a:pPr algn="l">
              <a:lnSpc>
                <a:spcPct val="105000"/>
              </a:lnSpc>
              <a:spcBef>
                <a:spcPts val="0"/>
              </a:spcBef>
              <a:spcAft>
                <a:spcPts val="300"/>
              </a:spcAft>
            </a:pPr>
            <a:r>
              <a:rPr sz="1500" b="1">
                <a:solidFill>
                  <a:srgbClr val="FFFFFF"/>
                </a:solidFill>
                <a:latin typeface="Arial"/>
              </a:rPr>
              <a:t>Team</a:t>
            </a:r>
          </a:p>
        </p:txBody>
      </p:sp>
      <p:sp>
        <p:nvSpPr>
          <p:cNvPr id="21" name="TextBox 20"/>
          <p:cNvSpPr txBox="1"/>
          <p:nvPr/>
        </p:nvSpPr>
        <p:spPr>
          <a:xfrm>
            <a:off x="640080" y="5303520"/>
            <a:ext cx="4572000" cy="1051560"/>
          </a:xfrm>
          <a:prstGeom prst="rect">
            <a:avLst/>
          </a:prstGeom>
          <a:noFill/>
        </p:spPr>
        <p:txBody>
          <a:bodyPr wrap="square" anchor="t" lIns="0" rIns="0" tIns="0" bIns="0">
            <a:spAutoFit/>
          </a:bodyPr>
          <a:lstStyle/>
          <a:p>
            <a:pPr algn="l">
              <a:lnSpc>
                <a:spcPct val="112000"/>
              </a:lnSpc>
              <a:spcBef>
                <a:spcPts val="0"/>
              </a:spcBef>
              <a:spcAft>
                <a:spcPts val="300"/>
              </a:spcAft>
            </a:pPr>
            <a:r>
              <a:rPr sz="1100" b="0">
                <a:solidFill>
                  <a:srgbClr val="221D5E"/>
                </a:solidFill>
                <a:latin typeface="Arial"/>
              </a:rPr>
              <a:t>Meet the team leading CARE Nigeria's development and humanitarian programs.</a:t>
            </a:r>
          </a:p>
        </p:txBody>
      </p:sp>
      <p:sp>
        <p:nvSpPr>
          <p:cNvPr id="22" name="TextBox 21"/>
          <p:cNvSpPr txBox="1"/>
          <p:nvPr/>
        </p:nvSpPr>
        <p:spPr>
          <a:xfrm>
            <a:off x="640080" y="6400800"/>
            <a:ext cx="4572000" cy="365760"/>
          </a:xfrm>
          <a:prstGeom prst="rect">
            <a:avLst/>
          </a:prstGeom>
          <a:noFill/>
        </p:spPr>
        <p:txBody>
          <a:bodyPr wrap="square" anchor="t" lIns="0" rIns="0" tIns="0" bIns="0">
            <a:spAutoFit/>
          </a:bodyPr>
          <a:lstStyle/>
          <a:p>
            <a:pPr algn="l">
              <a:lnSpc>
                <a:spcPct val="105000"/>
              </a:lnSpc>
              <a:spcBef>
                <a:spcPts val="0"/>
              </a:spcBef>
              <a:spcAft>
                <a:spcPts val="300"/>
              </a:spcAft>
            </a:pPr>
            <a:r>
              <a:rPr sz="1100" b="1">
                <a:solidFill>
                  <a:srgbClr val="F47400"/>
                </a:solidFill>
                <a:latin typeface="Arial"/>
              </a:rPr>
              <a:t>🔗  carenigeria.org/team</a:t>
            </a:r>
          </a:p>
        </p:txBody>
      </p:sp>
      <p:sp>
        <p:nvSpPr>
          <p:cNvPr id="23" name="Rounded Rectangle 22"/>
          <p:cNvSpPr/>
          <p:nvPr/>
        </p:nvSpPr>
        <p:spPr>
          <a:xfrm>
            <a:off x="5669280" y="4434840"/>
            <a:ext cx="5029200" cy="2468880"/>
          </a:xfrm>
          <a:prstGeom prst="roundRect">
            <a:avLst/>
          </a:prstGeom>
          <a:solidFill>
            <a:srgbClr val="E8C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0" y="4434840"/>
            <a:ext cx="5029200" cy="640080"/>
          </a:xfrm>
          <a:prstGeom prst="rect">
            <a:avLst/>
          </a:prstGeom>
          <a:solidFill>
            <a:srgbClr val="221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880" y="4553712"/>
            <a:ext cx="4572000" cy="457200"/>
          </a:xfrm>
          <a:prstGeom prst="rect">
            <a:avLst/>
          </a:prstGeom>
          <a:noFill/>
        </p:spPr>
        <p:txBody>
          <a:bodyPr wrap="square" anchor="ctr" lIns="0" rIns="0" tIns="0" bIns="0">
            <a:spAutoFit/>
          </a:bodyPr>
          <a:lstStyle/>
          <a:p>
            <a:pPr algn="l">
              <a:lnSpc>
                <a:spcPct val="105000"/>
              </a:lnSpc>
              <a:spcBef>
                <a:spcPts val="0"/>
              </a:spcBef>
              <a:spcAft>
                <a:spcPts val="300"/>
              </a:spcAft>
            </a:pPr>
            <a:r>
              <a:rPr sz="1500" b="1">
                <a:solidFill>
                  <a:srgbClr val="FFFFFF"/>
                </a:solidFill>
                <a:latin typeface="Arial"/>
              </a:rPr>
              <a:t>Vision</a:t>
            </a:r>
          </a:p>
        </p:txBody>
      </p:sp>
      <p:sp>
        <p:nvSpPr>
          <p:cNvPr id="26" name="TextBox 25"/>
          <p:cNvSpPr txBox="1"/>
          <p:nvPr/>
        </p:nvSpPr>
        <p:spPr>
          <a:xfrm>
            <a:off x="5897880" y="5303520"/>
            <a:ext cx="4572000" cy="1051560"/>
          </a:xfrm>
          <a:prstGeom prst="rect">
            <a:avLst/>
          </a:prstGeom>
          <a:noFill/>
        </p:spPr>
        <p:txBody>
          <a:bodyPr wrap="square" anchor="t" lIns="0" rIns="0" tIns="0" bIns="0">
            <a:spAutoFit/>
          </a:bodyPr>
          <a:lstStyle/>
          <a:p>
            <a:pPr algn="l">
              <a:lnSpc>
                <a:spcPct val="112000"/>
              </a:lnSpc>
              <a:spcBef>
                <a:spcPts val="0"/>
              </a:spcBef>
              <a:spcAft>
                <a:spcPts val="300"/>
              </a:spcAft>
            </a:pPr>
            <a:r>
              <a:rPr sz="1100" b="0">
                <a:solidFill>
                  <a:srgbClr val="221D5E"/>
                </a:solidFill>
                <a:latin typeface="Arial"/>
              </a:rPr>
              <a:t>CARE's mission, vision, focus and values — a world of hope, inclusion and social justice.</a:t>
            </a:r>
          </a:p>
        </p:txBody>
      </p:sp>
      <p:sp>
        <p:nvSpPr>
          <p:cNvPr id="27" name="TextBox 26"/>
          <p:cNvSpPr txBox="1"/>
          <p:nvPr/>
        </p:nvSpPr>
        <p:spPr>
          <a:xfrm>
            <a:off x="5897880" y="6400800"/>
            <a:ext cx="4572000" cy="365760"/>
          </a:xfrm>
          <a:prstGeom prst="rect">
            <a:avLst/>
          </a:prstGeom>
          <a:noFill/>
        </p:spPr>
        <p:txBody>
          <a:bodyPr wrap="square" anchor="t" lIns="0" rIns="0" tIns="0" bIns="0">
            <a:spAutoFit/>
          </a:bodyPr>
          <a:lstStyle/>
          <a:p>
            <a:pPr algn="l">
              <a:lnSpc>
                <a:spcPct val="105000"/>
              </a:lnSpc>
              <a:spcBef>
                <a:spcPts val="0"/>
              </a:spcBef>
              <a:spcAft>
                <a:spcPts val="300"/>
              </a:spcAft>
            </a:pPr>
            <a:r>
              <a:rPr sz="1100" b="1">
                <a:solidFill>
                  <a:srgbClr val="F47400"/>
                </a:solidFill>
                <a:latin typeface="Arial"/>
              </a:rPr>
              <a:t>🔗  carenigeria.org/mission-and-vision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0972800" cy="8229600"/>
          </a:xfrm>
          <a:prstGeom prst="rect">
            <a:avLst/>
          </a:prstGeom>
        </p:spPr>
      </p:pic>
      <p:sp>
        <p:nvSpPr>
          <p:cNvPr id="3" name="TextBox 2"/>
          <p:cNvSpPr txBox="1"/>
          <p:nvPr/>
        </p:nvSpPr>
        <p:spPr>
          <a:xfrm>
            <a:off x="822960" y="2377440"/>
            <a:ext cx="9326880" cy="2194560"/>
          </a:xfrm>
          <a:prstGeom prst="rect">
            <a:avLst/>
          </a:prstGeom>
          <a:noFill/>
        </p:spPr>
        <p:txBody>
          <a:bodyPr wrap="square" anchor="t" lIns="0" rIns="0" tIns="0" bIns="0">
            <a:spAutoFit/>
          </a:bodyPr>
          <a:lstStyle/>
          <a:p>
            <a:pPr algn="ctr">
              <a:lnSpc>
                <a:spcPct val="105000"/>
              </a:lnSpc>
              <a:spcBef>
                <a:spcPts val="0"/>
              </a:spcBef>
              <a:spcAft>
                <a:spcPts val="300"/>
              </a:spcAft>
            </a:pPr>
            <a:r>
              <a:rPr sz="2800" b="1">
                <a:solidFill>
                  <a:srgbClr val="FFFFFF"/>
                </a:solidFill>
                <a:latin typeface="Arial Black"/>
              </a:rPr>
              <a:t>“A world of hope, inclusion,</a:t>
            </a:r>
          </a:p>
          <a:p>
            <a:pPr algn="ctr">
              <a:lnSpc>
                <a:spcPct val="105000"/>
              </a:lnSpc>
              <a:spcBef>
                <a:spcPts val="0"/>
              </a:spcBef>
              <a:spcAft>
                <a:spcPts val="300"/>
              </a:spcAft>
            </a:pPr>
            <a:r>
              <a:rPr sz="2800" b="1">
                <a:solidFill>
                  <a:srgbClr val="FFFFFF"/>
                </a:solidFill>
                <a:latin typeface="Arial Black"/>
              </a:rPr>
              <a:t>and social justice.”</a:t>
            </a:r>
          </a:p>
        </p:txBody>
      </p:sp>
      <p:sp>
        <p:nvSpPr>
          <p:cNvPr id="4" name="TextBox 3"/>
          <p:cNvSpPr txBox="1"/>
          <p:nvPr/>
        </p:nvSpPr>
        <p:spPr>
          <a:xfrm>
            <a:off x="1280160" y="4709160"/>
            <a:ext cx="8412480" cy="1188720"/>
          </a:xfrm>
          <a:prstGeom prst="rect">
            <a:avLst/>
          </a:prstGeom>
          <a:noFill/>
        </p:spPr>
        <p:txBody>
          <a:bodyPr wrap="square" anchor="t" lIns="0" rIns="0" tIns="0" bIns="0">
            <a:spAutoFit/>
          </a:bodyPr>
          <a:lstStyle/>
          <a:p>
            <a:pPr algn="ctr">
              <a:lnSpc>
                <a:spcPct val="105000"/>
              </a:lnSpc>
              <a:spcBef>
                <a:spcPts val="0"/>
              </a:spcBef>
              <a:spcAft>
                <a:spcPts val="300"/>
              </a:spcAft>
            </a:pPr>
            <a:r>
              <a:rPr sz="1500" b="0">
                <a:solidFill>
                  <a:srgbClr val="FFFFFF"/>
                </a:solidFill>
                <a:latin typeface="Arial"/>
              </a:rPr>
              <a:t>Where poverty has been overcome and all people live with dignity and security.</a:t>
            </a:r>
          </a:p>
          <a:p>
            <a:pPr algn="ctr">
              <a:lnSpc>
                <a:spcPct val="105000"/>
              </a:lnSpc>
              <a:spcBef>
                <a:spcPts val="800"/>
              </a:spcBef>
              <a:spcAft>
                <a:spcPts val="300"/>
              </a:spcAft>
            </a:pPr>
            <a:r>
              <a:rPr sz="1100" b="1">
                <a:solidFill>
                  <a:srgbClr val="FFFFFF"/>
                </a:solidFill>
                <a:latin typeface="Arial"/>
              </a:rPr>
              <a:t>Sources: carenigeria.org — Mission &amp; Vision and History</a:t>
            </a:r>
          </a:p>
        </p:txBody>
      </p:sp>
      <p:sp>
        <p:nvSpPr>
          <p:cNvPr id="5" name="TextBox 4"/>
          <p:cNvSpPr txBox="1"/>
          <p:nvPr/>
        </p:nvSpPr>
        <p:spPr>
          <a:xfrm>
            <a:off x="9464040" y="7452360"/>
            <a:ext cx="1280160" cy="548640"/>
          </a:xfrm>
          <a:prstGeom prst="rect">
            <a:avLst/>
          </a:prstGeom>
          <a:noFill/>
        </p:spPr>
        <p:txBody>
          <a:bodyPr wrap="square" anchor="t" lIns="0" rIns="0" tIns="0" bIns="0">
            <a:spAutoFit/>
          </a:bodyPr>
          <a:lstStyle/>
          <a:p>
            <a:pPr algn="ctr">
              <a:lnSpc>
                <a:spcPct val="105000"/>
              </a:lnSpc>
              <a:spcBef>
                <a:spcPts val="0"/>
              </a:spcBef>
              <a:spcAft>
                <a:spcPts val="300"/>
              </a:spcAft>
            </a:pPr>
            <a:r>
              <a:rPr sz="2200" b="1">
                <a:solidFill>
                  <a:srgbClr val="FFFFFF"/>
                </a:solidFill>
                <a:latin typeface="Arial"/>
              </a:rPr>
              <a:t>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